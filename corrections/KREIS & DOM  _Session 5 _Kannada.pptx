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Ashwini K G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7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8-28T09:42:32.332">
    <p:pos x="1630" y="791"/>
    <p:text>Questions to appear one after another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4a248410f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4a248410f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740bdfa7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740bdfa7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740bdfa7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740bdfa7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4a248410f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4a248410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4a248410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4a248410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4a248410f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4a248410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740bdfa7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740bdfa7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4a248410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e4a248410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740bdfa7c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740bdfa7c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17153e14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17153e14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4a248410f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e4a248410f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4a248410f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4a248410f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4a248410f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e4a248410f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893a5a22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f893a5a22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893a5a22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f893a5a22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4a248410f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e4a248410f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1.xml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446100" y="255800"/>
            <a:ext cx="8251800" cy="103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Landing/Opening Page </a:t>
            </a:r>
            <a:endParaRPr sz="3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909450"/>
            <a:ext cx="85206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Full-screen graphic:</a:t>
            </a:r>
            <a:r>
              <a:rPr lang="en" sz="1400">
                <a:solidFill>
                  <a:schemeClr val="dk1"/>
                </a:solidFill>
              </a:rPr>
              <a:t> KREIS logo, CMCA logo + upbeat welcome music.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On-screen text:</a:t>
            </a:r>
            <a:r>
              <a:rPr lang="en" sz="1400">
                <a:solidFill>
                  <a:schemeClr val="dk1"/>
                </a:solidFill>
              </a:rPr>
              <a:t> </a:t>
            </a:r>
            <a:r>
              <a:rPr i="1" lang="en" sz="1400">
                <a:solidFill>
                  <a:schemeClr val="dk1"/>
                </a:solidFill>
              </a:rPr>
              <a:t>“</a:t>
            </a:r>
            <a:r>
              <a:rPr i="1" lang="en" sz="1400">
                <a:solidFill>
                  <a:schemeClr val="dk1"/>
                </a:solidFill>
              </a:rPr>
              <a:t>ಮಕ್ಕಳ ಸಂವಿಧಾನ ಕ್ಲಬ್ ಗೆ ಸ್ವಾಗತ </a:t>
            </a:r>
            <a:r>
              <a:rPr i="1" lang="en" sz="1400">
                <a:solidFill>
                  <a:schemeClr val="dk1"/>
                </a:solidFill>
              </a:rPr>
              <a:t>”</a:t>
            </a:r>
            <a:endParaRPr i="1" sz="1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52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2893125" y="927600"/>
            <a:ext cx="5809200" cy="27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On screen text:</a:t>
            </a:r>
            <a:r>
              <a:rPr lang="en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-295275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ಸೆಷನ್ ಪ್ರಾರಂಭಿಸಲು ಕೆಲವು ಆಸಕ್ತಿದಾಯಕ ಕಥೆಗಳನ್ನು ಓದೋಣ!</a:t>
            </a:r>
            <a:endParaRPr sz="1050">
              <a:solidFill>
                <a:srgbClr val="303030"/>
              </a:solidFill>
            </a:endParaRPr>
          </a:p>
          <a:p>
            <a:pPr indent="-295275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b="1" lang="en" sz="1050">
                <a:solidFill>
                  <a:srgbClr val="303030"/>
                </a:solidFill>
              </a:rPr>
              <a:t>ಶಿಕ್ಷಕರಿಗೆ ಸೂಚನೆ:</a:t>
            </a:r>
            <a:r>
              <a:rPr lang="en" sz="1050">
                <a:solidFill>
                  <a:srgbClr val="303030"/>
                </a:solidFill>
              </a:rPr>
              <a:t> ವಿದ್ಯಾರ್ಥಿಗಳಿಗೆ ಅನುಬಂಧ 1 ಅನ್ನು ವಿತರಿಸಿ (ಪ್ರತಿ ಗುಂಪಿಗೆ ಒಂದು ಪ್ರತಿ).</a:t>
            </a:r>
            <a:endParaRPr sz="1050">
              <a:solidFill>
                <a:srgbClr val="303030"/>
              </a:solidFill>
            </a:endParaRPr>
          </a:p>
          <a:p>
            <a:pPr indent="-295275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ನಿಮ್ಮ ಗುಂಪುಗಳಲ್ಲಿ ಕಥೆಗಳನ್ನು ಓದಿ. ನಿಮಗೆ 3 ನಿಮಿಷ ಕಾಲಾವಕಾಶವಿದೆ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Countdown timer - 3 mins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Give reminder - 1 min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95250" y="1200150"/>
            <a:ext cx="3000000" cy="5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ನೆನಪಿನ ಪಟ್ಟಿ</a:t>
            </a:r>
            <a:endParaRPr b="1" sz="110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ಪ್ರಾರಂಭ (ROC ಕಥೆಗಳು)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1601" y="67100"/>
            <a:ext cx="87118" cy="500927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>
            <p:ph type="ctrTitle"/>
          </p:nvPr>
        </p:nvSpPr>
        <p:spPr>
          <a:xfrm>
            <a:off x="2941275" y="67125"/>
            <a:ext cx="5524200" cy="13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/>
              <a:t>ಸಕ್ರಿಯ ನಾಗರಿಕರ ಕಥೆಗಳು</a:t>
            </a:r>
            <a:endParaRPr b="1" sz="21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03030"/>
              </a:solidFill>
              <a:highlight>
                <a:srgbClr val="FFFFFF"/>
              </a:highlight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525300" y="3815125"/>
            <a:ext cx="3000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Visuals: photos of group work </a:t>
            </a:r>
            <a:br>
              <a:rPr b="1" lang="en" sz="1300">
                <a:solidFill>
                  <a:schemeClr val="dk1"/>
                </a:solidFill>
              </a:rPr>
            </a:br>
            <a:br>
              <a:rPr b="1" lang="en" sz="1300">
                <a:solidFill>
                  <a:schemeClr val="dk1"/>
                </a:solidFill>
              </a:rPr>
            </a:br>
            <a:r>
              <a:rPr b="1" lang="en" sz="1300">
                <a:solidFill>
                  <a:schemeClr val="dk1"/>
                </a:solidFill>
              </a:rPr>
              <a:t>Visual: image of ROC stories sheet</a:t>
            </a:r>
            <a:endParaRPr b="1" sz="700"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5300" y="2116803"/>
            <a:ext cx="2177025" cy="2959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8476" y="67113"/>
            <a:ext cx="87118" cy="500927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3356925" y="0"/>
            <a:ext cx="4077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" sz="2740" u="sng">
                <a:solidFill>
                  <a:schemeClr val="dk1"/>
                </a:solidFill>
              </a:rPr>
              <a:t>ಸಕ್ರಿಯ ನಾಗರಿಕರ ಕಥೆಗಳು</a:t>
            </a:r>
            <a:endParaRPr b="1" sz="274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b="1" sz="3420" u="sng"/>
          </a:p>
        </p:txBody>
      </p:sp>
      <p:sp>
        <p:nvSpPr>
          <p:cNvPr id="72" name="Google Shape;72;p15"/>
          <p:cNvSpPr txBox="1"/>
          <p:nvPr/>
        </p:nvSpPr>
        <p:spPr>
          <a:xfrm>
            <a:off x="3048075" y="730700"/>
            <a:ext cx="46953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738"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1351" y="67100"/>
            <a:ext cx="87118" cy="500927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2655600" y="1140588"/>
            <a:ext cx="6488400" cy="28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893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38"/>
              <a:buChar char="●"/>
            </a:pPr>
            <a:r>
              <a:rPr b="1" lang="en" sz="1500">
                <a:solidFill>
                  <a:schemeClr val="dk1"/>
                </a:solidFill>
              </a:rPr>
              <a:t>ಈ ಎಲ್ಲಾ ಕಥೆಗಳಲ್ಲಿ ನಿಮಗೆ ಸಾಮಾನ್ಯವಾಗಿ ಕಂಡುಬರುವ ಅಂಶವೇನು?</a:t>
            </a:r>
            <a:endParaRPr b="1" sz="15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b="1" lang="en" sz="1600">
                <a:solidFill>
                  <a:schemeClr val="dk1"/>
                </a:solidFill>
              </a:rPr>
              <a:t>ಈ ಕಥೆಗಳಲ್ಲಿ ಮಕ್ಕಳು ಏನು ಮಾಡಿದರು?</a:t>
            </a:r>
            <a:endParaRPr b="1" sz="16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b="1" lang="en" sz="1600">
                <a:solidFill>
                  <a:schemeClr val="dk1"/>
                </a:solidFill>
              </a:rPr>
              <a:t>ಈ ಸೌಲಭ್ಯಗಳು ಮತ್ತು ಅಗತ್ಯಗಳನ್ನು ಒದಗಿಸುವುದು ಯಾರ ಕೆಲಸ</a:t>
            </a:r>
            <a:r>
              <a:rPr lang="en" sz="2400">
                <a:solidFill>
                  <a:srgbClr val="1F2937"/>
                </a:solidFill>
                <a:highlight>
                  <a:srgbClr val="FFFBF2"/>
                </a:highlight>
                <a:latin typeface="Roboto"/>
                <a:ea typeface="Roboto"/>
                <a:cs typeface="Roboto"/>
                <a:sym typeface="Roboto"/>
              </a:rPr>
              <a:t>?</a:t>
            </a:r>
            <a:endParaRPr sz="2400">
              <a:solidFill>
                <a:srgbClr val="1F2937"/>
              </a:solidFill>
              <a:highlight>
                <a:srgbClr val="FFFBF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b="1" lang="en" sz="1600">
                <a:solidFill>
                  <a:schemeClr val="dk1"/>
                </a:solidFill>
              </a:rPr>
              <a:t>ಗುರುನಾಥ್ ಅಥವಾ ನಾಜಿಯಾ, ಮಾರಿಯಾ ಅಥವಾ ಅರುಂಧತಿ ಇವೆಲ್ಲದರ ಬಗ್ಗೆ ತಲೆಕೆಡಿಸಿಕೊಳ್ಳಬೇಕಾದ ಅಗತ್ಯವೇನಿತ್ತು? </a:t>
            </a:r>
            <a:endParaRPr b="1" sz="16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●"/>
            </a:pPr>
            <a:r>
              <a:rPr b="1" lang="en" sz="1600">
                <a:solidFill>
                  <a:schemeClr val="dk1"/>
                </a:solidFill>
              </a:rPr>
              <a:t>ಎಲ್ಲರೂ ಸುಮ್ಮನೆ ಹೋಗಿದ್ದರೆ ಮತ್ತು ಸಮಸ್ಯೆಗಳನ್ನು ಪರಿಹರಿಸಲು ಏನನ್ನೂ ಮಾಡದಿದ್ದರೆ ಏನಾಗುತ್ತಿತ್ತು?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-120525" y="845200"/>
            <a:ext cx="30000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Recall Bar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Getting started (ROC stories)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356925" y="67125"/>
            <a:ext cx="407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" sz="1200">
                <a:solidFill>
                  <a:srgbClr val="303030"/>
                </a:solidFill>
                <a:highlight>
                  <a:srgbClr val="FFFFFF"/>
                </a:highlight>
              </a:rPr>
              <a:t>ROC ಕಥೆಗಳು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8476" y="67113"/>
            <a:ext cx="87118" cy="500927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74700" y="974125"/>
            <a:ext cx="3000000" cy="5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ನೆನಪಿನ ಪಟ್ಟಿ</a:t>
            </a:r>
            <a:endParaRPr b="1" sz="110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ಪ್ರಾರಂಭ (ROC ಕಥೆಗಳು)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2978825" y="974125"/>
            <a:ext cx="5560500" cy="32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dk1"/>
                </a:solidFill>
              </a:rPr>
              <a:t>MC appears to share the following:</a:t>
            </a:r>
            <a:endParaRPr sz="500" u="sng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ಈ ಕಥೆಗಳು ಕಲ್ಪಿತವಲ್ಲ, ಇವು ನೈಜ ಘಟನೆಗಳು. ಇವು ದೇಶದ ವಿವಿಧ ನಗರಗಳಲ್ಲಿ ನಡೆದ ನೈಜ ಘಟನೆಗಳನ್ನು ಆಧರಿಸಿವೆ ಮತ್ತು ಈ ಕಥೆಗಳಲ್ಲಿರುವ ವಿದ್ಯಾರ್ಥಿಗಳೆಲ್ಲರೂ Children’s Constitution(Namma Club)Club ನ ಸದಸ್ಯರಾಗಿದ್ದರು. ಇದು ಎಷ್ಟು ಅದ್ಭುತ ಅಲ್ವಾ? ಹದಿಹರೆಯದವರು ಕೂಡ ಸಕ್ರಿಯ ಪೌರರಾಗಬಹುದು!</a:t>
            </a:r>
            <a:endParaRPr sz="1050">
              <a:solidFill>
                <a:srgbClr val="303030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ಸೌಲಭ್ಯಗಳು ಅಥವಾ ಅಗತ್ಯಗಳಿಗಾಗಿ ನಾವು ಸರ್ಕಾರವನ್ನು ಕೇಳಿದಾಗ, ನಾವು ನಮ್ಮ </a:t>
            </a:r>
            <a:r>
              <a:rPr b="1" lang="en" sz="1050">
                <a:solidFill>
                  <a:srgbClr val="303030"/>
                </a:solidFill>
              </a:rPr>
              <a:t>ಹಕ್ಕುಗಳನ್ನು (Rights)</a:t>
            </a:r>
            <a:r>
              <a:rPr lang="en" sz="1050">
                <a:solidFill>
                  <a:srgbClr val="303030"/>
                </a:solidFill>
              </a:rPr>
              <a:t> </a:t>
            </a:r>
            <a:r>
              <a:rPr lang="en" sz="1050">
                <a:solidFill>
                  <a:srgbClr val="303030"/>
                </a:solidFill>
              </a:rPr>
              <a:t>ಕೇಳುತ್ತಿದ್ದೇವೆ ಎಂದರ್ಥ - ಅಂದರೆ ನಾವು ಸರ್ಕಾರವು ನಮಗಾಗಿ ಕೆಲಸ ಮಾಡುವಂತೆ ಮಾಡುತ್ತಿದ್ದೇವೆ.</a:t>
            </a:r>
            <a:endParaRPr sz="1050">
              <a:solidFill>
                <a:srgbClr val="303030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ನಮಗೆ ಹಲವಾರು ವಿಷಯಗಳ ಹಕ್ಕುಗಳಿದ್ದರೂ, ಸಮಸ್ಯೆಗಳನ್ನು ಪರಿಹರಿಸುವುದು ಕೇವಲ ಸರ್ಕಾರದ ಕೆಲಸವಲ್ಲ. ನಾವು ನಮ್ಮ ಸುತ್ತಮುತ್ತಲಿನ ಪರಿಸರದ ಬಗ್ಗೆ ಕಾಳಜಿ ವಹಿಸಬೇಕು ಮತ್ತು ಕ್ರಮ ತೆಗೆದುಕೊಳ್ಳಬೇಕು! ಇದು ನಮ್ಮ </a:t>
            </a:r>
            <a:r>
              <a:rPr b="1" lang="en" sz="1050">
                <a:solidFill>
                  <a:srgbClr val="303030"/>
                </a:solidFill>
              </a:rPr>
              <a:t>ಜವಾಬ್ದಾರಿಯಾಗುತ್ತದೆ (Responsibility).</a:t>
            </a:r>
            <a:endParaRPr b="1" sz="1050">
              <a:solidFill>
                <a:srgbClr val="30303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ಹಾಗಾಗಿ ನಾವು ನಮ್ಮ ಹಕ್ಕುಗಳಿಗಾಗಿ ಕೇಳಿದಾಗ, ನಾವು ನಮ್ಮ </a:t>
            </a:r>
            <a:r>
              <a:rPr b="1" lang="en" sz="1100">
                <a:solidFill>
                  <a:schemeClr val="dk1"/>
                </a:solidFill>
              </a:rPr>
              <a:t>ಜವಾಬ್ದಾರಿಗಳನ್ನು (Responsibilities)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ಪೂರೈಸುತ್ತಿದ್ದೇವೆ</a:t>
            </a:r>
            <a:r>
              <a:rPr lang="en" sz="1100">
                <a:solidFill>
                  <a:schemeClr val="dk1"/>
                </a:solidFill>
              </a:rPr>
              <a:t> ಎಂದರ್ಥ.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b="1" sz="1050">
              <a:solidFill>
                <a:srgbClr val="30303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2655600" y="974125"/>
            <a:ext cx="6720000" cy="21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ನಾಜ಼ಿಯಾ, ಮರಿಯಾ ಮತ್ತು ಗುರುನಾಥ್ ಹಾಗು ಅರುಂಧತಿಯವರಂತೆ ನಾವು ಕೂಡ ಹೇಗೆ ಸಕ್ರಿಯ ನಾಗರಿಕರಾಗಬಹುದು ಎಂಬುದನ್ನು ಇಂದು ನಾವು ಕಲಿಯೋಣ</a:t>
            </a:r>
            <a:endParaRPr sz="14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ಭಾರತದ ಪ್ರಧಾನ ಮಂತ್ರಿ ಯಾರು?</a:t>
            </a:r>
            <a:endParaRPr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ನ</a:t>
            </a:r>
            <a:r>
              <a:rPr lang="en">
                <a:solidFill>
                  <a:schemeClr val="dk1"/>
                </a:solidFill>
              </a:rPr>
              <a:t>ಮ್ಮ ರಾಜ್ಯದ ಮುಖ್ಯ ಮಂತ್ರಿ ಯಾರು?</a:t>
            </a:r>
            <a:endParaRPr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Note: write on Board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8476" y="67113"/>
            <a:ext cx="87118" cy="500927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/>
        </p:nvSpPr>
        <p:spPr>
          <a:xfrm>
            <a:off x="74700" y="974125"/>
            <a:ext cx="3000000" cy="7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ನೆನಪಿನ ಪಟ್ಟಿ</a:t>
            </a:r>
            <a:endParaRPr b="1" sz="110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ಪ್ರಾರಂಭ (ROC ಕಥೆಗಳು)</a:t>
            </a:r>
            <a:endParaRPr sz="1050">
              <a:solidFill>
                <a:srgbClr val="303030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ಸ್ಥಳೀಯ ಸರ್ಕಾರ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91" name="Google Shape;91;p17"/>
          <p:cNvSpPr txBox="1"/>
          <p:nvPr>
            <p:ph type="title"/>
          </p:nvPr>
        </p:nvSpPr>
        <p:spPr>
          <a:xfrm>
            <a:off x="3356925" y="67125"/>
            <a:ext cx="407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b="1" lang="en" sz="1850">
                <a:solidFill>
                  <a:srgbClr val="303030"/>
                </a:solidFill>
              </a:rPr>
              <a:t>ಸರ್ಕಾರದ 3 ಹಂತಗಳು</a:t>
            </a:r>
            <a:endParaRPr b="1" sz="3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8476" y="67113"/>
            <a:ext cx="87118" cy="500927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/>
        </p:nvSpPr>
        <p:spPr>
          <a:xfrm>
            <a:off x="74700" y="974125"/>
            <a:ext cx="3000000" cy="10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ನೆನಪಿನ ಪಟ್ಟಿ</a:t>
            </a:r>
            <a:endParaRPr b="1" sz="110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ಪ್ರಾರಂಭ (ROC ಕಥೆಗಳು)</a:t>
            </a:r>
            <a:endParaRPr sz="1050">
              <a:solidFill>
                <a:srgbClr val="303030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ಸ್ಥಳೀಯ ಸರ್ಕಾರ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3074700" y="835700"/>
            <a:ext cx="5560500" cy="42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dk1"/>
                </a:solidFill>
              </a:rPr>
              <a:t>MC to say this</a:t>
            </a:r>
            <a:endParaRPr sz="13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dk1"/>
                </a:solidFill>
              </a:rPr>
              <a:t>ನಾವು ಈಗ ದೃಶ್ಯೀಕರಿಸುವ ಚಟುವಟಿಕೆಯನ್ನು ಮಾಡುತ್ತೇವೆ </a:t>
            </a:r>
            <a:r>
              <a:rPr lang="en" sz="1100">
                <a:solidFill>
                  <a:schemeClr val="dk1"/>
                </a:solidFill>
              </a:rPr>
              <a:t>,ಈಗ ಎಲ್ಲರೂ ನಿಮ್ಮ ಕಣ್ಣನ್ನು ಮುಚ್ಚಿರಿ!</a:t>
            </a:r>
            <a:endParaRPr sz="1300" u="sng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ನೀವು ಮನೆಯಲ್ಲಿದ್ದೀರಿ ಎಂದು ಕಲ್ಪಿಸಿಕೊಳ್ಳಿ. ನಿಮ್ಮ ಮನೆಯಲ್ಲಿರುವ ನಳಗಳ (taps) ಬಗ್ಗೆ ಯೋಚಿಸಿ. ನಿಮಗೆ ಸಾಕಷ್ಟು ನೀರು ಸಿಗುತ್ತಿದೆಯೇ? ಲೈಟ್ ಮತ್ತು ಫ್ಯಾನ್ ಕೆಲಸ ಮಾಡುತ್ತಿವೆಯೇ - ವಿದ್ಯುತ್ ಇದೆಯೇ? (ನಳದ ನೀರಿನ ಶಬ್ದ)</a:t>
            </a:r>
            <a:endParaRPr sz="1050">
              <a:solidFill>
                <a:srgbClr val="303030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ನೀವು ಈಗ ಮನೆಯಿಂದ ಹೊರಬಂದು ರಸ್ತೆಗೆ ಇಳಿಯುತ್ತಿದ್ದೀರಿ. ರಸ್ತೆ ಹೇಗೆ ಕಾಣಿಸುತ್ತಿದೆ? ರಸ್ತೆಗಳ ಸ್ಥಿತಿ ಹೇಗಿದೆ? ಸುತ್ತಲೂ ಮರಗಳಿವೆಯೇ? ಅಲ್ಲಿ ಕಸವಿದೆಯೇ ಅಥವಾ ಅದೆಲ್ಲವನ್ನೂ ಸ್ವಚ್ಛಗೊಳಿಸಲಾಗಿದೆಯೇ? (ಪಕ್ಷಿಗಳ ಚಿಲಿಪಿಲಿ, ಕಿಚನ್‌ನಲ್ಲಿ ಪ್ರೆಶರ್ ಕುಕ್ಕರ್ ಶಬ್ದ, ಗುಡಿಸುವ ಶಬ್ದ, ಬೀದಿ ವ್ಯಾಪಾರಿಗಳ ಕೂಗು)</a:t>
            </a:r>
            <a:endParaRPr sz="1050">
              <a:solidFill>
                <a:srgbClr val="303030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ಮುಂದೆ, ನೀವು ಶಾಲೆಗೆ ಹೋಗುತ್ತಿದ್ದೀರಿ. ರಸ್ತೆ ದಾಟಲು ಸಹಾಯ ಮಾಡಲು ಅಲ್ಲಿ ಟ್ರಾಫಿಕ್ ಪೊಲೀಸ್ ಕಾನ್‌ಸ್ಟೇಬಲ್ ಇದ್ದಾರೆಯೇ? ಜೀಬ್ರಾ ಕ್ರಾಸಿಂಗ್ ಇದೆಯೇ? ಶಾಲೆಯ ಒಳಗಿನ ಸ್ಥಿತಿ ಹೇಗಿದೆ? ಅಲ್ಲಿ ಸಾಕಷ್ಟು ಸ್ವಚ್ಛವಾದ ಶೌಚಾಲಯಗಳಿವೆಯೇ? (ವಾಹನಗಳ ಶಬ್ದ)</a:t>
            </a:r>
            <a:endParaRPr sz="1050">
              <a:solidFill>
                <a:srgbClr val="303030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ಈಗ ಇಡೀ ನಗರದ ಬಗ್ಗೆ ಯೋಚಿಸಿ! ನೀವು ಪ್ರಯಾಣಿಸುವ ರಸ್ತೆಗಳ ಬಗ್ಗೆ ಯೋಚಿಸಿ, ಅಲ್ಲಿ ಫುಟ್‌ಪಾತ್‌ಗಳಿವೆಯೇ? ಸಂಚಾರ (traffic) ಹೇಗಿದೆ ಮತ್ತು ರಸ್ತೆಗಳಲ್ಲಿ ಗುಂಡಿಗಳಿವೆಯೇ? (ಹಾರ್ನ್ ಶಬ್ದ)</a:t>
            </a:r>
            <a:endParaRPr sz="1050">
              <a:solidFill>
                <a:srgbClr val="303030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ಈಗ ಕಣ್ಣುಗಳನ್ನು ತೆರೆಯಿರಿ</a:t>
            </a:r>
            <a:endParaRPr sz="1050">
              <a:solidFill>
                <a:srgbClr val="30303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3356925" y="67125"/>
            <a:ext cx="407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303030"/>
                </a:solidFill>
              </a:rPr>
              <a:t>ಸಕ್ರಿಯ ನಾಗರಿಕರು </a:t>
            </a:r>
            <a:endParaRPr sz="3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2773050" y="730700"/>
            <a:ext cx="55188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75">
                <a:solidFill>
                  <a:schemeClr val="dk1"/>
                </a:solidFill>
              </a:rPr>
              <a:t>Text on Screen: </a:t>
            </a:r>
            <a:endParaRPr b="1" sz="1475">
              <a:solidFill>
                <a:schemeClr val="dk1"/>
              </a:solidFill>
            </a:endParaRPr>
          </a:p>
          <a:p>
            <a:pPr indent="-295275" lvl="0" marL="457200" rtl="0" algn="l"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100">
                <a:solidFill>
                  <a:schemeClr val="dk1"/>
                </a:solidFill>
              </a:rPr>
              <a:t>(</a:t>
            </a:r>
            <a:r>
              <a:rPr lang="en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" sz="1100">
                <a:solidFill>
                  <a:schemeClr val="dk1"/>
                </a:solidFill>
              </a:rPr>
              <a:t>ಪ್ರತಿ ಗುಂಪು, ನೀವು ಆಲೋಚಿಸಿದ ಎಲ್ಲಾ ಸಮಸ್ಯೆಗಳನ್ನು ಬರೆಯಿರಿ!</a:t>
            </a:r>
            <a:endParaRPr sz="1050">
              <a:solidFill>
                <a:srgbClr val="303030"/>
              </a:solidFill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ಸಮಸ್ಯೆಗಳನ್ನು ಪಟ್ಟಿಮಾಡಲು ಅವರಿಗೆ 2 ನಿಮಿಷಗಳ ಕಾಲಾವಕಾಶ ನೀಡಿ </a:t>
            </a:r>
            <a:endParaRPr sz="1313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i="1" sz="131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13">
                <a:solidFill>
                  <a:schemeClr val="dk1"/>
                </a:solidFill>
              </a:rPr>
              <a:t>Countdown timer: 2 minutes</a:t>
            </a:r>
            <a:endParaRPr sz="131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13">
                <a:solidFill>
                  <a:schemeClr val="dk1"/>
                </a:solidFill>
              </a:rPr>
              <a:t>Reminder: 1 minute</a:t>
            </a:r>
            <a:endParaRPr sz="131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88">
              <a:solidFill>
                <a:schemeClr val="dk1"/>
              </a:solidFill>
            </a:endParaRPr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8476" y="67113"/>
            <a:ext cx="87118" cy="500927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 txBox="1"/>
          <p:nvPr/>
        </p:nvSpPr>
        <p:spPr>
          <a:xfrm>
            <a:off x="74700" y="974125"/>
            <a:ext cx="3000000" cy="7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ನೆನಪಿನ ಪಟ್ಟಿ</a:t>
            </a:r>
            <a:endParaRPr b="1" sz="110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ಪ್ರಾರಂಭ (ROC ಕಥೆಗಳು)</a:t>
            </a:r>
            <a:endParaRPr sz="1050">
              <a:solidFill>
                <a:srgbClr val="303030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ಸ್ಥಳೀಯ ಸರ್ಕಾರ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07" name="Google Shape;107;p19"/>
          <p:cNvSpPr txBox="1"/>
          <p:nvPr>
            <p:ph type="title"/>
          </p:nvPr>
        </p:nvSpPr>
        <p:spPr>
          <a:xfrm>
            <a:off x="3356925" y="67125"/>
            <a:ext cx="467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b="1" lang="en" sz="1700">
                <a:solidFill>
                  <a:srgbClr val="303030"/>
                </a:solidFill>
              </a:rPr>
              <a:t>ಸಕ್ರಿಯ ಪೌರರು- ಗುಂಪು ಕಾರ್ಯ </a:t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8476" y="67113"/>
            <a:ext cx="87118" cy="500927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 txBox="1"/>
          <p:nvPr/>
        </p:nvSpPr>
        <p:spPr>
          <a:xfrm>
            <a:off x="74700" y="974125"/>
            <a:ext cx="3000000" cy="7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ನೆನಪಿನ ಪಟ್ಟಿ</a:t>
            </a:r>
            <a:endParaRPr b="1" sz="110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ಪ್ರಾರಂಭ (ROC ಕಥೆಗಳು)</a:t>
            </a:r>
            <a:endParaRPr sz="1050">
              <a:solidFill>
                <a:srgbClr val="303030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ಸ್ಥಳೀಯ ಸರ್ಕಾರ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14" name="Google Shape;114;p20"/>
          <p:cNvSpPr txBox="1"/>
          <p:nvPr>
            <p:ph type="title"/>
          </p:nvPr>
        </p:nvSpPr>
        <p:spPr>
          <a:xfrm>
            <a:off x="3074700" y="1128325"/>
            <a:ext cx="492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b="1" lang="en" sz="3600"/>
              <a:t>ಬೋರ್ಡ್ ವರ್ಕ್ – ಉದಾಹರಣೆ </a:t>
            </a:r>
            <a:endParaRPr b="1" sz="3600"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6678" y="1805475"/>
            <a:ext cx="4077600" cy="2423507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 txBox="1"/>
          <p:nvPr/>
        </p:nvSpPr>
        <p:spPr>
          <a:xfrm>
            <a:off x="3074700" y="471875"/>
            <a:ext cx="55620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2667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</a:rPr>
              <a:t>ಕೆಲವು ಸಮಸ್ಯೆಗಳನ್ನು ಬೋರ್ಡಿನ ಮೇಲೆ ಪಟ್ಟಿ ಮಾಡೋಣ – ಈಗಾಗಲೇ ಬರೆದಿರುವ ಸಮಸ್ಯೆಯನ್ನು ಆದಷ್ಟೂ ಪುನಃ ಹೇಳುವುದು ಬೇಡ</a:t>
            </a:r>
            <a:endParaRPr>
              <a:solidFill>
                <a:schemeClr val="dk1"/>
              </a:solidFill>
            </a:endParaRPr>
          </a:p>
          <a:p>
            <a:pPr indent="-228600" lvl="0" marL="2667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2875800" y="0"/>
            <a:ext cx="5518800" cy="31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313">
              <a:solidFill>
                <a:schemeClr val="dk1"/>
              </a:solidFill>
            </a:endParaRPr>
          </a:p>
          <a:p>
            <a:pPr indent="-314325" lvl="0" marL="457200" rtl="0" algn="l"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ts val="1350"/>
              <a:buChar char="●"/>
            </a:pPr>
            <a:r>
              <a:rPr lang="en" sz="1350">
                <a:solidFill>
                  <a:srgbClr val="303030"/>
                </a:solidFill>
              </a:rPr>
              <a:t>ಹಾಗಾದರೆ, ನಮ್ಮ ಈ ಸಮಸ್ಯೆಗಳನ್ನು ಯಾರು ಪರಿಹರಿಸುತ್ತಾರೆ? "ಪ್ರಧಾನ ಮಂತ್ರಿಗಳು ಈ ಸಮಸ್ಯೆಯನ್ನು ಪರಿಹರಿಸುತ್ತಾರೆಯೇ? </a:t>
            </a:r>
            <a:endParaRPr sz="1350">
              <a:solidFill>
                <a:srgbClr val="303030"/>
              </a:solidFill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50"/>
              <a:buChar char="●"/>
            </a:pPr>
            <a:r>
              <a:rPr lang="en" sz="1350">
                <a:solidFill>
                  <a:srgbClr val="303030"/>
                </a:solidFill>
              </a:rPr>
              <a:t>ಮುಖ್ಯಮಂತ್ರಿಗಳು ಈ ಸಮಸ್ಯೆಯನ್ನು ಪರಿಹರಿಸುತ್ತಾರೆಯೇ? </a:t>
            </a:r>
            <a:endParaRPr sz="1350">
              <a:solidFill>
                <a:srgbClr val="303030"/>
              </a:solidFill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350"/>
              <a:buChar char="●"/>
            </a:pPr>
            <a:r>
              <a:rPr lang="en" sz="1350">
                <a:solidFill>
                  <a:srgbClr val="303030"/>
                </a:solidFill>
              </a:rPr>
              <a:t>ಹಾಗಾದರೆ ಈ ಎಲ್ಲಾ ಸಮಸ್ಯೆಗಳನ್ನು ಸರಿಪಡಿಸಲು ಯಾರು ಜವಾಬ್ದಾರರು? </a:t>
            </a:r>
            <a:endParaRPr sz="161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1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1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88">
              <a:solidFill>
                <a:schemeClr val="dk1"/>
              </a:solidFill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8476" y="67113"/>
            <a:ext cx="87118" cy="500927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 txBox="1"/>
          <p:nvPr/>
        </p:nvSpPr>
        <p:spPr>
          <a:xfrm>
            <a:off x="74700" y="974125"/>
            <a:ext cx="3000000" cy="7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ನೆನಪಿನ ಪಟ್ಟಿ</a:t>
            </a:r>
            <a:endParaRPr b="1" sz="110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ಪ್ರಾರಂಭ (ROC ಕಥೆಗಳು)</a:t>
            </a:r>
            <a:endParaRPr sz="1050">
              <a:solidFill>
                <a:srgbClr val="303030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ಸ್ಥಳೀಯ ಸರ್ಕಾರ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5251" y="1665842"/>
            <a:ext cx="1871672" cy="1112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1"/>
          <p:cNvSpPr txBox="1"/>
          <p:nvPr/>
        </p:nvSpPr>
        <p:spPr>
          <a:xfrm>
            <a:off x="2875800" y="2821625"/>
            <a:ext cx="6180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⚡ ವಿದ್ಯುತ್ ಇಲಾಖೆ | 🏙️ ನಗರಸಭೆ / ಮಹಾನಗರ ಪಾಲಿಕೆ | 💧 ಜಲ ಮಂಡಳಿ | 🚦 ಸಂಚಾರ ಪೊಲೀಸ್ | 🌱 ಪಂಚಾಯತ್ </a:t>
            </a:r>
            <a:endParaRPr/>
          </a:p>
        </p:txBody>
      </p:sp>
      <p:sp>
        <p:nvSpPr>
          <p:cNvPr id="126" name="Google Shape;126;p21"/>
          <p:cNvSpPr txBox="1"/>
          <p:nvPr/>
        </p:nvSpPr>
        <p:spPr>
          <a:xfrm>
            <a:off x="2828550" y="3437225"/>
            <a:ext cx="5613300" cy="1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ಇವೆಲ್ಲವನ್ನೂ ಒಟ್ಟಾಗಿ ಏನೆಂದು ಕರೆಯುತ್ತಾರೆ?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ಸ್ಥಳೀಯ ಸರ್ಕಾರ (Local Government)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100">
                <a:solidFill>
                  <a:schemeClr val="dk1"/>
                </a:solidFill>
              </a:rPr>
              <a:t>ನಮ್ಮ ದೈನಂದಿನ ಜೀವನಕ್ಕೆ ಅತ್ಯಂತ ಹತ್ತಿರವಿರುವ ಸರ್ಕಾರ.</a:t>
            </a:r>
            <a:endParaRPr i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8476" y="67113"/>
            <a:ext cx="87118" cy="500927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2"/>
          <p:cNvSpPr txBox="1"/>
          <p:nvPr/>
        </p:nvSpPr>
        <p:spPr>
          <a:xfrm>
            <a:off x="74700" y="974125"/>
            <a:ext cx="3000000" cy="7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ನೆನಪಿನ ಪಟ್ಟಿ</a:t>
            </a:r>
            <a:endParaRPr b="1" sz="110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ಪ್ರಾರಂಭ (ROC ಕಥೆಗಳು)</a:t>
            </a:r>
            <a:endParaRPr sz="1050">
              <a:solidFill>
                <a:srgbClr val="303030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ಸ್ಥಳೀಯ ಸರ್ಕಾರ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33" name="Google Shape;133;p22"/>
          <p:cNvSpPr txBox="1"/>
          <p:nvPr/>
        </p:nvSpPr>
        <p:spPr>
          <a:xfrm>
            <a:off x="2774150" y="103663"/>
            <a:ext cx="6180900" cy="4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ಸರ್ಕಾರದ 3 ಹಂತಗಳು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ಕೇಂದ್ರ ಸರ್ಕಾರ</a:t>
            </a:r>
            <a:br>
              <a:rPr lang="en" sz="1100">
                <a:solidFill>
                  <a:schemeClr val="dk1"/>
                </a:solidFill>
              </a:rPr>
            </a:br>
            <a:r>
              <a:rPr b="1" lang="en" sz="1100">
                <a:solidFill>
                  <a:schemeClr val="dk1"/>
                </a:solidFill>
              </a:rPr>
              <a:t>ಪ್ರಧಾನ ಮಂತ್ರಿ → MP (ಸಂಸತ್ ಸದಸ್ಯರು)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ರಾಜ್ಯ ಸರ್ಕಾರ</a:t>
            </a:r>
            <a:r>
              <a:rPr lang="en" sz="1100">
                <a:solidFill>
                  <a:schemeClr val="dk1"/>
                </a:solidFill>
              </a:rPr>
              <a:t> 🏛️</a:t>
            </a:r>
            <a:br>
              <a:rPr lang="en" sz="1100">
                <a:solidFill>
                  <a:schemeClr val="dk1"/>
                </a:solidFill>
              </a:rPr>
            </a:br>
            <a:r>
              <a:rPr b="1" lang="en" sz="1100">
                <a:solidFill>
                  <a:schemeClr val="dk1"/>
                </a:solidFill>
              </a:rPr>
              <a:t>ಮುಖ್ಯಮಂತ್ರಿ → MLA (ವಿಧಾನಸಭಾ ಸದಸ್ಯರು)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ಸ್ಥಳೀಯ ಸರ್ಕಾರ</a:t>
            </a:r>
            <a:r>
              <a:rPr lang="en" sz="1100">
                <a:solidFill>
                  <a:schemeClr val="dk1"/>
                </a:solidFill>
              </a:rPr>
              <a:t> 🏘️</a:t>
            </a:r>
            <a:br>
              <a:rPr lang="en" sz="1100">
                <a:solidFill>
                  <a:schemeClr val="dk1"/>
                </a:solidFill>
              </a:rPr>
            </a:br>
            <a:r>
              <a:rPr b="1" lang="en" sz="1100">
                <a:solidFill>
                  <a:schemeClr val="dk1"/>
                </a:solidFill>
              </a:rPr>
              <a:t>ಕೌನ್ಸಿಲರ್ / ಕಾರ್ಪೊರೇಟರ್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ಚರ್ಚಿಸಿ: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ನಿಮ್ಮ ಪ್ರದೇಶದ </a:t>
            </a:r>
            <a:r>
              <a:rPr b="1" lang="en" sz="1100">
                <a:solidFill>
                  <a:schemeClr val="dk1"/>
                </a:solidFill>
              </a:rPr>
              <a:t>MP ಅಥವಾ MLA ಯಾರು?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ನಿಮ್ಮ ಪ್ರದೇಶದ </a:t>
            </a:r>
            <a:r>
              <a:rPr b="1" lang="en" sz="1100">
                <a:solidFill>
                  <a:schemeClr val="dk1"/>
                </a:solidFill>
              </a:rPr>
              <a:t>ಕೌನ್ಸಿಲರ್ / ಕಾರ್ಪೊರೇಟರ್ ಯಾರು?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ನಮ್ಮ ದಿನನಿತ್ಯದ ಸಮಸ್ಯೆಗಳನ್ನು ಪರಿಹರಿಸುವಲ್ಲಿ ಸ್ಥಳೀಯ ಸರ್ಕಾರದ ಪಾತ್ರವೇನು?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ಮುಖ್ಯ ಸಂದೇಶ: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👉 </a:t>
            </a:r>
            <a:r>
              <a:rPr i="1" lang="en" sz="1100">
                <a:solidFill>
                  <a:schemeClr val="dk1"/>
                </a:solidFill>
              </a:rPr>
              <a:t>ನಮ್ಮ ಸ್ಥಳೀಯ ಸರ್ಕಾರವು ನಮ್ಮ ದಿನನಿತ್ಯದ ಸಮಸ್ಯೆಗಳಿಗೆ ಅತ್ಯಂತ ಹತ್ತಿರದಲ್ಲಿದೆ. ನಮ್ಮ ಧ್ವನಿಯನ್ನು ಸ್ಥಳೀಯ ಮಟ್ಟದಲ್ಲಿ ಪ್ರತಿನಿಧಿಸುವವರು ಯಾರು ಎಂಬುದನ್ನು ತಿಳಿದುಕೊಳ್ಳುವುದು ಮುಖ್ಯ.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3187450" y="579775"/>
            <a:ext cx="522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/>
              <a:t>On screen text</a:t>
            </a:r>
            <a:endParaRPr sz="2220"/>
          </a:p>
        </p:txBody>
      </p:sp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3074700" y="1203850"/>
            <a:ext cx="5647500" cy="32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ಸಹಾಯವಾಣಿ ಸಂಖ್ಯೆಗಳು ಪ್ರತಿಯೊಬ್ಬ ವಿದ್ಯಾರ್ಥಿಗೂ ಒಂದು  (Helpline numbers) ವಿತರಣೆ </a:t>
            </a:r>
            <a:endParaRPr sz="1050">
              <a:solidFill>
                <a:srgbClr val="303030"/>
              </a:solidFill>
            </a:endParaRPr>
          </a:p>
          <a:p>
            <a:pPr indent="0" lvl="0" marL="4572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03030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49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95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t/>
            </a:r>
            <a:endParaRPr sz="1495">
              <a:solidFill>
                <a:schemeClr val="dk1"/>
              </a:solidFill>
            </a:endParaRPr>
          </a:p>
        </p:txBody>
      </p:sp>
      <p:pic>
        <p:nvPicPr>
          <p:cNvPr id="140" name="Google Shape;14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8526" y="67100"/>
            <a:ext cx="87118" cy="500927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3"/>
          <p:cNvSpPr txBox="1"/>
          <p:nvPr/>
        </p:nvSpPr>
        <p:spPr>
          <a:xfrm>
            <a:off x="74700" y="974125"/>
            <a:ext cx="3000000" cy="12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ನೆನಪಿನ ಪಟ್ಟಿ</a:t>
            </a:r>
            <a:endParaRPr b="1" sz="110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ಪ್ರಾರಂಭ (ROC ಕಥೆಗಳು)</a:t>
            </a:r>
            <a:endParaRPr sz="1050">
              <a:solidFill>
                <a:srgbClr val="303030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ಸ್ಥಳೀಯ ಸರ್ಕಾರ</a:t>
            </a:r>
            <a:endParaRPr sz="1050">
              <a:solidFill>
                <a:srgbClr val="303030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ಸಹಾಯವಾಣಿ ಸಂಖ್ಯೆಗಳು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42" name="Google Shape;142;p23"/>
          <p:cNvSpPr txBox="1"/>
          <p:nvPr>
            <p:ph type="title"/>
          </p:nvPr>
        </p:nvSpPr>
        <p:spPr>
          <a:xfrm>
            <a:off x="3187450" y="67100"/>
            <a:ext cx="407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ಸಹಾಯವಾಣಿ ಸಂಖ್ಯೆಗಳು </a:t>
            </a:r>
            <a:endParaRPr/>
          </a:p>
        </p:txBody>
      </p:sp>
      <p:pic>
        <p:nvPicPr>
          <p:cNvPr id="143" name="Google Shape;14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6675" y="1588531"/>
            <a:ext cx="1643035" cy="243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3"/>
          <p:cNvSpPr txBox="1"/>
          <p:nvPr/>
        </p:nvSpPr>
        <p:spPr>
          <a:xfrm>
            <a:off x="3074700" y="1522150"/>
            <a:ext cx="343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ಇದು ಬಹಳ ಮುಖ್ಯ ಏಕೆಂದರೆ ಇದು ನಿಮಗೆ ಬದಲಾವಣೆಯನ್ನು ತರುವ ಶಕ್ತಿಯನ್ನುನೀಡುತ್ತದೆ. </a:t>
            </a:r>
            <a:endParaRPr sz="1050">
              <a:solidFill>
                <a:srgbClr val="303030"/>
              </a:solidFill>
            </a:endParaRP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ಇದನ್ನು ಮನೆಯಲ್ಲಿ ಜಾಗರೂಕತೆಯಿಂದ ಇಟ್ಟುಕೊಳ್ಳಿ. </a:t>
            </a:r>
            <a:endParaRPr sz="1050">
              <a:solidFill>
                <a:srgbClr val="303030"/>
              </a:solidFill>
            </a:endParaRPr>
          </a:p>
          <a:p>
            <a:pPr indent="-2952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ನಿಮ್ಮ ಮನೆಯಲ್ಲಿ ಎಲ್ಲರಿಗೂ ಕಾಣುವಂತೆ ಬೋರ್ಡ್, ಗೋಡೆ ಅಥವಾ ಫ್ರಿಡ್ಜ್ ಮೇಲೆ ಅಂಟಿಸಿ.</a:t>
            </a:r>
            <a:endParaRPr sz="1050">
              <a:solidFill>
                <a:srgbClr val="30303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sz="1050">
              <a:solidFill>
                <a:srgbClr val="30303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idx="1" type="body"/>
          </p:nvPr>
        </p:nvSpPr>
        <p:spPr>
          <a:xfrm>
            <a:off x="2588375" y="1256250"/>
            <a:ext cx="6153300" cy="26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6858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1.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" sz="1400">
                <a:solidFill>
                  <a:schemeClr val="dk1"/>
                </a:solidFill>
              </a:rPr>
              <a:t>ಬೀದಿ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ದೀಪವು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ಕೆಲಸ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ಮಾಡುತ್ತಿಲ್ಲವೆಂದರೆ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ನೀವು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ಯಾವ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ಸಂಸ್ಥೆಗೆ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ಕರೆ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ಮಾಡುತ್ತೀರಿ</a:t>
            </a:r>
            <a:r>
              <a:rPr b="1" lang="en" sz="1400">
                <a:solidFill>
                  <a:schemeClr val="dk1"/>
                </a:solidFill>
              </a:rPr>
              <a:t>?</a:t>
            </a:r>
            <a:endParaRPr b="1" sz="1400">
              <a:solidFill>
                <a:schemeClr val="dk1"/>
              </a:solidFill>
            </a:endParaRPr>
          </a:p>
          <a:p>
            <a:pPr indent="-228600" lvl="0" marL="6858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2.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" sz="1400">
                <a:solidFill>
                  <a:schemeClr val="dk1"/>
                </a:solidFill>
              </a:rPr>
              <a:t>ಮಹಿಳಾ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ಸಹಾಯವಾಣಿಯ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ಸಂಖ್ಯೆ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ಏನು</a:t>
            </a:r>
            <a:r>
              <a:rPr b="1" lang="en" sz="1400">
                <a:solidFill>
                  <a:schemeClr val="dk1"/>
                </a:solidFill>
              </a:rPr>
              <a:t>?</a:t>
            </a:r>
            <a:endParaRPr b="1" sz="1400">
              <a:solidFill>
                <a:schemeClr val="dk1"/>
              </a:solidFill>
            </a:endParaRPr>
          </a:p>
          <a:p>
            <a:pPr indent="-228600" lvl="0" marL="6858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3.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" sz="1400">
                <a:solidFill>
                  <a:schemeClr val="dk1"/>
                </a:solidFill>
              </a:rPr>
              <a:t>ನೀರಿನ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ಸರಬರಾಜು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ಮಾಡುವಂತಹ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ಸಂಸ್ಥೆಯ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ಹೆಸರು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ಮತ್ತು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ಅದರ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ಸಂಖ್ಯೆ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ಏನು</a:t>
            </a:r>
            <a:r>
              <a:rPr b="1" lang="en" sz="1400">
                <a:solidFill>
                  <a:schemeClr val="dk1"/>
                </a:solidFill>
              </a:rPr>
              <a:t>?</a:t>
            </a:r>
            <a:endParaRPr b="1" sz="1400">
              <a:solidFill>
                <a:schemeClr val="dk1"/>
              </a:solidFill>
            </a:endParaRPr>
          </a:p>
          <a:p>
            <a:pPr indent="-228600" lvl="0" marL="6858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4.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" sz="1400">
                <a:solidFill>
                  <a:schemeClr val="dk1"/>
                </a:solidFill>
              </a:rPr>
              <a:t>ನೀವು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ಆಂಬ್ಯುಲೆನ್ಸ್</a:t>
            </a:r>
            <a:r>
              <a:rPr b="1" lang="en" sz="1400">
                <a:solidFill>
                  <a:schemeClr val="dk1"/>
                </a:solidFill>
              </a:rPr>
              <a:t>‍</a:t>
            </a:r>
            <a:r>
              <a:rPr lang="en" sz="1400">
                <a:solidFill>
                  <a:schemeClr val="dk1"/>
                </a:solidFill>
              </a:rPr>
              <a:t>ಗಾಗಿ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ಯಾವ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ಸಂಖ್ಯೆಗೆ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ಕರೆ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ಮಾಡುವಿರಿ</a:t>
            </a:r>
            <a:r>
              <a:rPr b="1" lang="en" sz="1400">
                <a:solidFill>
                  <a:schemeClr val="dk1"/>
                </a:solidFill>
              </a:rPr>
              <a:t>?</a:t>
            </a:r>
            <a:endParaRPr b="1" sz="1400">
              <a:solidFill>
                <a:schemeClr val="dk1"/>
              </a:solidFill>
            </a:endParaRPr>
          </a:p>
          <a:p>
            <a:pPr indent="-228600" lvl="0" marL="6858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5.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" sz="1400">
                <a:solidFill>
                  <a:schemeClr val="dk1"/>
                </a:solidFill>
              </a:rPr>
              <a:t>ಒಂದು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ಬೀದಿ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ನಾಯಿಯು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ಗಾಯಗೊಂಡಿದ್ದಲ್ಲಿ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ನಾವು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ಯಾರಿಗೆ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ಕರೆ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ಮಾಡಬಹುದು</a:t>
            </a:r>
            <a:r>
              <a:rPr b="1" lang="en" sz="1400">
                <a:solidFill>
                  <a:schemeClr val="dk1"/>
                </a:solidFill>
              </a:rPr>
              <a:t>?</a:t>
            </a:r>
            <a:endParaRPr b="1" sz="1400">
              <a:solidFill>
                <a:schemeClr val="dk1"/>
              </a:solidFill>
            </a:endParaRPr>
          </a:p>
          <a:p>
            <a:pPr indent="-228600" lvl="0" marL="6858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6.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" sz="1400">
                <a:solidFill>
                  <a:schemeClr val="dk1"/>
                </a:solidFill>
              </a:rPr>
              <a:t>ವಿದ್ಯುತ್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ಸರಬರಾಜಿಲ್ಲದಿದ್ದಲ್ಲಿ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ನಾವು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ಯಾರಿಗೆ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ಕರೆ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ಮಾಡಬಹುದು</a:t>
            </a:r>
            <a:r>
              <a:rPr b="1" lang="en" sz="1400">
                <a:solidFill>
                  <a:schemeClr val="dk1"/>
                </a:solidFill>
              </a:rPr>
              <a:t>?</a:t>
            </a:r>
            <a:endParaRPr b="1" sz="1400">
              <a:solidFill>
                <a:schemeClr val="dk1"/>
              </a:solidFill>
            </a:endParaRPr>
          </a:p>
          <a:p>
            <a:pPr indent="-228600" lvl="0" marL="6858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7.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1" lang="en" sz="1400">
                <a:solidFill>
                  <a:schemeClr val="dk1"/>
                </a:solidFill>
              </a:rPr>
              <a:t>1098 </a:t>
            </a:r>
            <a:r>
              <a:rPr lang="en" sz="1400">
                <a:solidFill>
                  <a:schemeClr val="dk1"/>
                </a:solidFill>
              </a:rPr>
              <a:t>ಸಂಖ್ಯೆಗೆ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ಯಾವ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ಉದ್ದೇಶಕ್ಕಾಗಿ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ಕರೆ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ಮಾಡಲಾಗುತ್ತದೆ</a:t>
            </a:r>
            <a:r>
              <a:rPr b="1" lang="en" sz="1400">
                <a:solidFill>
                  <a:schemeClr val="dk1"/>
                </a:solidFill>
              </a:rPr>
              <a:t>?</a:t>
            </a:r>
            <a:endParaRPr b="1" sz="1400">
              <a:solidFill>
                <a:schemeClr val="dk1"/>
              </a:solidFill>
            </a:endParaRPr>
          </a:p>
          <a:p>
            <a:pPr indent="-228600" lvl="0" marL="6858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8.</a:t>
            </a:r>
            <a:r>
              <a:rPr lang="e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" sz="1400">
                <a:solidFill>
                  <a:schemeClr val="dk1"/>
                </a:solidFill>
              </a:rPr>
              <a:t>ಕಸದ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ವಿಲೇವಾರಿಯು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ಯಾವ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ಸಂಸ್ಥೆಯ</a:t>
            </a:r>
            <a:r>
              <a:rPr b="1"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ಜವಾಬ್ದಾರಿಯಾಗಿರುತ್ತದೆ</a:t>
            </a:r>
            <a:r>
              <a:rPr b="1" lang="en" sz="1400">
                <a:solidFill>
                  <a:schemeClr val="dk1"/>
                </a:solidFill>
              </a:rPr>
              <a:t>?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303030"/>
              </a:solidFill>
            </a:endParaRPr>
          </a:p>
        </p:txBody>
      </p:sp>
      <p:pic>
        <p:nvPicPr>
          <p:cNvPr id="150" name="Google Shape;15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8376" y="67113"/>
            <a:ext cx="87118" cy="500927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4"/>
          <p:cNvSpPr txBox="1"/>
          <p:nvPr/>
        </p:nvSpPr>
        <p:spPr>
          <a:xfrm>
            <a:off x="74700" y="974125"/>
            <a:ext cx="30000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ನೆನಪಿನ ಪಟ್ಟಿ</a:t>
            </a:r>
            <a:endParaRPr b="1" sz="110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ಪ್ರಾರಂಭ (ROC ಕಥೆಗಳು)</a:t>
            </a:r>
            <a:endParaRPr sz="1050">
              <a:solidFill>
                <a:srgbClr val="303030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ಸ್ಥಳೀಯ ಸರ್ಕಾರ</a:t>
            </a:r>
            <a:endParaRPr sz="1050">
              <a:solidFill>
                <a:srgbClr val="303030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ಸಹಾಯವಾಣಿ ಸಂಖ್ಯೆಗಳು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52" name="Google Shape;152;p24"/>
          <p:cNvSpPr txBox="1"/>
          <p:nvPr>
            <p:ph type="title"/>
          </p:nvPr>
        </p:nvSpPr>
        <p:spPr>
          <a:xfrm>
            <a:off x="3356925" y="67125"/>
            <a:ext cx="407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03030"/>
                </a:solidFill>
              </a:rPr>
              <a:t>ಸಹಾಯವಾಣಿ ಸಂಖ್ಯೆಗಳು - ರಸಪ್ರಶ್ನೆ</a:t>
            </a:r>
            <a:endParaRPr b="1" sz="1800"/>
          </a:p>
        </p:txBody>
      </p:sp>
      <p:sp>
        <p:nvSpPr>
          <p:cNvPr id="153" name="Google Shape;153;p24"/>
          <p:cNvSpPr txBox="1"/>
          <p:nvPr/>
        </p:nvSpPr>
        <p:spPr>
          <a:xfrm>
            <a:off x="6481800" y="-15975"/>
            <a:ext cx="266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03030"/>
                </a:solidFill>
              </a:rPr>
              <a:t>ಶಿಕ್ಷಕರಿಗೆ ಸೂಚನೆ:</a:t>
            </a:r>
            <a:r>
              <a:rPr lang="en" sz="1200">
                <a:solidFill>
                  <a:srgbClr val="303030"/>
                </a:solidFill>
              </a:rPr>
              <a:t> ಸಹಾಯವಾಣಿ ಸಂಖ್ಯೆಗಳ ಹಾಳೆಯನ್ನು ಬಳಸಿ ವಿದ್ಯಾರ್ಥಿಗಳಿಗೆ ಸರಿಯಾದ ಉತ್ತರಗಳನ್ನು ನೀಡಿ</a:t>
            </a:r>
            <a:endParaRPr sz="1013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8376" y="67113"/>
            <a:ext cx="87118" cy="5009276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5"/>
          <p:cNvSpPr txBox="1"/>
          <p:nvPr/>
        </p:nvSpPr>
        <p:spPr>
          <a:xfrm>
            <a:off x="74700" y="974125"/>
            <a:ext cx="30000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ನೆನಪಿನ ಪಟ್ಟಿ</a:t>
            </a:r>
            <a:endParaRPr b="1" sz="110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ಪ್ರಾರಂಭ (ROC ಕಥೆಗಳು)</a:t>
            </a:r>
            <a:endParaRPr sz="1050">
              <a:solidFill>
                <a:srgbClr val="303030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ಸ್ಥಳೀಯ ಸರ್ಕಾರ</a:t>
            </a:r>
            <a:endParaRPr sz="1050">
              <a:solidFill>
                <a:srgbClr val="303030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ಸಹಾಯವಾಣಿ ಸಂಖ್ಯೆಗಳು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60" name="Google Shape;160;p25"/>
          <p:cNvSpPr txBox="1"/>
          <p:nvPr>
            <p:ph type="title"/>
          </p:nvPr>
        </p:nvSpPr>
        <p:spPr>
          <a:xfrm>
            <a:off x="2935700" y="67125"/>
            <a:ext cx="590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200">
                <a:solidFill>
                  <a:srgbClr val="303030"/>
                </a:solidFill>
              </a:rPr>
              <a:t>ಮುಂದಿನ ಚಟುವಟಿಕೆ - ನಿಮಗೆ ಸೂಕ್ತವಾದುದನ್ನು ಆಯ್ಕೆ  ಮಾಡಿ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720"/>
          </a:p>
        </p:txBody>
      </p:sp>
      <p:pic>
        <p:nvPicPr>
          <p:cNvPr id="161" name="Google Shape;161;p25" title="ChatGPT Image Aug 28, 2026, 03_31_10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2475" y="792250"/>
            <a:ext cx="5764500" cy="38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8376" y="67113"/>
            <a:ext cx="87118" cy="5009276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6"/>
          <p:cNvSpPr txBox="1"/>
          <p:nvPr/>
        </p:nvSpPr>
        <p:spPr>
          <a:xfrm>
            <a:off x="74700" y="974125"/>
            <a:ext cx="3000000" cy="14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ನೆನಪಿನ ಪಟ್ಟಿ</a:t>
            </a:r>
            <a:endParaRPr b="1" sz="110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ಪ್ರಾರಂಭ (ROC ಕಥೆಗಳು)</a:t>
            </a:r>
            <a:endParaRPr sz="1050">
              <a:solidFill>
                <a:srgbClr val="303030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ಸ್ಥಳೀಯ ಸರ್ಕಾರ</a:t>
            </a:r>
            <a:endParaRPr sz="1050">
              <a:solidFill>
                <a:srgbClr val="303030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ಸಹಾಯವಾಣಿ ಸಂಖ್ಯೆಗಳು</a:t>
            </a:r>
            <a:endParaRPr sz="1050">
              <a:solidFill>
                <a:srgbClr val="303030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ಸಾಮಾನ್ಯ ಉಪಸಂಹಾರ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68" name="Google Shape;168;p26"/>
          <p:cNvSpPr txBox="1"/>
          <p:nvPr>
            <p:ph idx="1" type="body"/>
          </p:nvPr>
        </p:nvSpPr>
        <p:spPr>
          <a:xfrm>
            <a:off x="2870100" y="1331850"/>
            <a:ext cx="5976600" cy="13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 ಮೊದಲು ಸಕ್ರಿಯ ನಾಗರಿಕರ ಕಥೆಗಳಲ್ಲಿ, ನಾವು ಹಕ್ಕುಗಳಿಗಾಗಿ ಧ್ವನಿ ಎತ್ತಬೇಕು, ಸಮರ್ಥಿಸಬೇಕು ಎಂಬುದನ್ನು ನೋಡಿದ್ದೇವೆ. ಹಾಗಾದರೆ ಈ ಹಕ್ಕುಗಳು ಕೇವಲ ಮನುಷ್ಯರಿಗೆ ಮಾತ್ರವೇ?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[2 secs pause]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Yes, ನೀವು ಹೇಳಿದ್ದು ಸರಿ.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ಗಿಡಮರಗಳು, ಪ್ರಾಣಿಗಳು, ಪ್ರಕೃತಿ, ಪಕ್ಷಿಗಳಿಗೂ ಹಕ್ಕಿದೆ. ಅವುಗಳಿಗೆ ಮನುಷ್ಯರಂತೆ ತಮ್ಮ ಹಕ್ಕುಗಳಿಗಾಗಿ ಧ್ವನಿ ಎತ್ತಲು ಸಾಧ್ಯವಿಲ್ಲ.ಆದ್ದರಿಂದ, </a:t>
            </a:r>
            <a:r>
              <a:rPr b="1" lang="en" sz="1400">
                <a:solidFill>
                  <a:schemeClr val="dk1"/>
                </a:solidFill>
              </a:rPr>
              <a:t>ಅವುಗಳ ಪರವಾಗಿ ಧ್ವನಿ ಎತ್ತುವುದು ಮತ್ತು ಅವುಗಳನ್ನು ರಕ್ಷಿಸುವುದು ನಮ್ಮ ಜವಾಬ್ದಾರಿ.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9" name="Google Shape;169;p26"/>
          <p:cNvSpPr txBox="1"/>
          <p:nvPr>
            <p:ph type="title"/>
          </p:nvPr>
        </p:nvSpPr>
        <p:spPr>
          <a:xfrm>
            <a:off x="2942000" y="759150"/>
            <a:ext cx="443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720"/>
              <a:t>MC to say this</a:t>
            </a:r>
            <a:endParaRPr b="1" sz="172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8376" y="67113"/>
            <a:ext cx="87118" cy="500927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7"/>
          <p:cNvSpPr txBox="1"/>
          <p:nvPr/>
        </p:nvSpPr>
        <p:spPr>
          <a:xfrm>
            <a:off x="74700" y="974125"/>
            <a:ext cx="3000000" cy="14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ನೆನಪಿನ ಪಟ್ಟಿ</a:t>
            </a:r>
            <a:endParaRPr b="1" sz="110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ಪ್ರಾರಂಭ (ROC ಕಥೆಗಳು)</a:t>
            </a:r>
            <a:endParaRPr sz="1050">
              <a:solidFill>
                <a:srgbClr val="303030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ಸ್ಥಳೀಯ ಸರ್ಕಾರ</a:t>
            </a:r>
            <a:endParaRPr sz="1050">
              <a:solidFill>
                <a:srgbClr val="303030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ಸಹಾಯವಾಣಿ ಸಂಖ್ಯೆಗಳು</a:t>
            </a:r>
            <a:endParaRPr sz="1050">
              <a:solidFill>
                <a:srgbClr val="303030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ಸಾಮಾನ್ಯ ಉಪಸಂಹಾರ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76" name="Google Shape;176;p27"/>
          <p:cNvSpPr txBox="1"/>
          <p:nvPr>
            <p:ph idx="1" type="body"/>
          </p:nvPr>
        </p:nvSpPr>
        <p:spPr>
          <a:xfrm>
            <a:off x="2849100" y="974125"/>
            <a:ext cx="5745900" cy="18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33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650"/>
              <a:buChar char="●"/>
            </a:pPr>
            <a:r>
              <a:rPr lang="en" sz="1650">
                <a:solidFill>
                  <a:srgbClr val="303030"/>
                </a:solidFill>
              </a:rPr>
              <a:t>ನಿಮ್ಮ ತಂದೆ ತಾಯಿಯರಿಗೆ ಸಹಾಯವಾಣಿಗಳ ಬಗ್ಗೆ ಪ್ರಶ್ನೆಗಳನ್ನು ಕೇಳಿರಿ ಹಾಗು ಅವರಿಗೆ ಎಷ್ಟು ಸಂಖ್ಯೆಗಳು ತಿಳಿದಿವೆ ಎಂಬುದನ್ನು ಅರಿಯಿರಿ!</a:t>
            </a:r>
            <a:endParaRPr sz="1650">
              <a:solidFill>
                <a:srgbClr val="30303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303030"/>
              </a:solidFill>
            </a:endParaRPr>
          </a:p>
          <a:p>
            <a:pPr indent="-333375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303030"/>
              </a:buClr>
              <a:buSzPts val="1650"/>
              <a:buChar char="●"/>
            </a:pPr>
            <a:r>
              <a:rPr lang="en" sz="1700">
                <a:solidFill>
                  <a:schemeClr val="dk1"/>
                </a:solidFill>
              </a:rPr>
              <a:t>ನ</a:t>
            </a:r>
            <a:r>
              <a:rPr lang="en" sz="1700">
                <a:solidFill>
                  <a:schemeClr val="dk1"/>
                </a:solidFill>
              </a:rPr>
              <a:t>ಿ</a:t>
            </a:r>
            <a:r>
              <a:rPr lang="en" sz="1700">
                <a:solidFill>
                  <a:schemeClr val="dk1"/>
                </a:solidFill>
              </a:rPr>
              <a:t>ಮ್ಮ ಪೋಷಕರನ್ನು ಕೇಳಿ, ಮತ್ತು ಅವರ ಸಹಾಯ ಮತ್ತು ಒಪ್ಪಿಗೆಯಿಂದ ಮಾತ್ರ ನಿಮ್ಮ ದೂರನ್ನು ದಾಖಲಿಸಲು ಕರೆ ಮಾಡಿ. ನೆನಪಿಡಿ, </a:t>
            </a:r>
            <a:r>
              <a:rPr b="1" lang="en" sz="1700">
                <a:solidFill>
                  <a:schemeClr val="dk1"/>
                </a:solidFill>
              </a:rPr>
              <a:t>ಯಾವಾಗಲೂ ಪೋಷಕರಿಗೆ ಮಾಹಿತಿಯನ್ನು ನೀಡುವುದು ನಮ್ಮ </a:t>
            </a:r>
            <a:r>
              <a:rPr b="1" lang="en" sz="1700" u="sng">
                <a:solidFill>
                  <a:schemeClr val="dk1"/>
                </a:solidFill>
              </a:rPr>
              <a:t>ಜವಾಬ್ದಾರಿ</a:t>
            </a:r>
            <a:r>
              <a:rPr b="1" lang="en" sz="1700">
                <a:solidFill>
                  <a:schemeClr val="dk1"/>
                </a:solidFill>
              </a:rPr>
              <a:t> ಕೂಡ ಆಗಿರುತ್ತದೆ</a:t>
            </a:r>
            <a:endParaRPr b="1" sz="17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50">
              <a:solidFill>
                <a:srgbClr val="303030"/>
              </a:solidFill>
            </a:endParaRPr>
          </a:p>
        </p:txBody>
      </p:sp>
      <p:sp>
        <p:nvSpPr>
          <p:cNvPr id="177" name="Google Shape;177;p27"/>
          <p:cNvSpPr txBox="1"/>
          <p:nvPr>
            <p:ph type="title"/>
          </p:nvPr>
        </p:nvSpPr>
        <p:spPr>
          <a:xfrm>
            <a:off x="3769975" y="19075"/>
            <a:ext cx="443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00" u="sng"/>
              <a:t>ತರಂಗ ಕಾರ್ಯ </a:t>
            </a:r>
            <a:endParaRPr b="1" sz="292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8376" y="67113"/>
            <a:ext cx="87118" cy="500927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8"/>
          <p:cNvSpPr txBox="1"/>
          <p:nvPr/>
        </p:nvSpPr>
        <p:spPr>
          <a:xfrm>
            <a:off x="74700" y="974125"/>
            <a:ext cx="3000000" cy="14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ನೆನಪಿನ ಪಟ್ಟಿ</a:t>
            </a:r>
            <a:endParaRPr b="1" sz="110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ಪ್ರಾರಂಭ (ROC ಕಥೆಗಳು)</a:t>
            </a:r>
            <a:endParaRPr sz="1050">
              <a:solidFill>
                <a:srgbClr val="303030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ಸ್ಥಳೀಯ ಸರ್ಕಾರ</a:t>
            </a:r>
            <a:endParaRPr sz="1050">
              <a:solidFill>
                <a:srgbClr val="303030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ಸಹಾಯವಾಣಿ ಸಂಖ್ಯೆಗಳು</a:t>
            </a:r>
            <a:endParaRPr sz="1050">
              <a:solidFill>
                <a:srgbClr val="303030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ಸಾಮಾನ್ಯ ಉಪಸಂಹಾರ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84" name="Google Shape;184;p28"/>
          <p:cNvSpPr txBox="1"/>
          <p:nvPr>
            <p:ph idx="1" type="body"/>
          </p:nvPr>
        </p:nvSpPr>
        <p:spPr>
          <a:xfrm>
            <a:off x="2889400" y="974125"/>
            <a:ext cx="3123600" cy="20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303030"/>
                </a:solidFill>
              </a:rPr>
              <a:t>ನೀವು ಯಾವುದಾದರೂ ಸಮಸ್ಯೆಯನ್ನು ಬಗೆಹರಿಸಲು ಪ್ರಯತ್ನಿಸಿದ ಅಥವಾ ಬಗೆಹರಿಸಿದ ವರದಿಯನ್ನು ಈ ನಮೂನೆಯನ್ನು ಭರ್ತಿ ಮಾಡಿ ಚೇಂಜ್‌ ಚಾಂಪಿಯನ್‌ ಪೆಟ್ಟಿಗೆಯಲ್ಲಿ ಹಾಕಿರಿ. </a:t>
            </a:r>
            <a:endParaRPr sz="1550">
              <a:solidFill>
                <a:srgbClr val="30303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rgbClr val="30303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50">
                <a:solidFill>
                  <a:srgbClr val="303030"/>
                </a:solidFill>
              </a:rPr>
              <a:t>ನಮೂನೆಯನ್ನು ಪ್ರತಿಯೊಬ್ಬ ವಿದ್ಯಾರ್ಥಿಗೂ ವಿತರಿಸಿ</a:t>
            </a:r>
            <a:endParaRPr sz="1550">
              <a:solidFill>
                <a:srgbClr val="303030"/>
              </a:solidFill>
            </a:endParaRPr>
          </a:p>
        </p:txBody>
      </p:sp>
      <p:sp>
        <p:nvSpPr>
          <p:cNvPr id="185" name="Google Shape;185;p28"/>
          <p:cNvSpPr txBox="1"/>
          <p:nvPr>
            <p:ph type="title"/>
          </p:nvPr>
        </p:nvSpPr>
        <p:spPr>
          <a:xfrm>
            <a:off x="3769975" y="19075"/>
            <a:ext cx="443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500" u="sng"/>
              <a:t>ನಾನು ಬದಲಾವಣೆಯನ್ನು ತರುವೆ- ಬದಲಾವಣೆ ತರಂಗದ ವರದಿ</a:t>
            </a:r>
            <a:endParaRPr b="1" sz="1920"/>
          </a:p>
        </p:txBody>
      </p:sp>
      <p:pic>
        <p:nvPicPr>
          <p:cNvPr id="186" name="Google Shape;186;p28" title="Screenshot 2026-07-10 1342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8050" y="974125"/>
            <a:ext cx="2409776" cy="3406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8376" y="67113"/>
            <a:ext cx="87118" cy="5009276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9"/>
          <p:cNvSpPr txBox="1"/>
          <p:nvPr/>
        </p:nvSpPr>
        <p:spPr>
          <a:xfrm>
            <a:off x="74700" y="974125"/>
            <a:ext cx="3000000" cy="18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ನೆನಪಿನ ಪಟ್ಟಿ</a:t>
            </a:r>
            <a:endParaRPr b="1" sz="110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ಪ್ರಾರಂಭ (ROC ಕಥೆಗಳು)</a:t>
            </a:r>
            <a:endParaRPr sz="1050">
              <a:solidFill>
                <a:srgbClr val="303030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ಸ್ಥಳೀಯ ಸರ್ಕಾರ</a:t>
            </a:r>
            <a:endParaRPr sz="1050">
              <a:solidFill>
                <a:srgbClr val="303030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ಸಹಾಯವಾಣಿ ಸಂಖ್ಯೆಗಳು</a:t>
            </a:r>
            <a:endParaRPr sz="1050">
              <a:solidFill>
                <a:srgbClr val="303030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050"/>
              <a:buChar char="●"/>
            </a:pPr>
            <a:r>
              <a:rPr lang="en" sz="1050">
                <a:solidFill>
                  <a:srgbClr val="303030"/>
                </a:solidFill>
              </a:rPr>
              <a:t>ಸಾಮಾನ್ಯ ಉಪಸಂಹಾರ</a:t>
            </a:r>
            <a:endParaRPr sz="1050">
              <a:solidFill>
                <a:srgbClr val="30303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93" name="Google Shape;193;p29"/>
          <p:cNvSpPr txBox="1"/>
          <p:nvPr>
            <p:ph type="title"/>
          </p:nvPr>
        </p:nvSpPr>
        <p:spPr>
          <a:xfrm>
            <a:off x="3760750" y="1999050"/>
            <a:ext cx="443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720"/>
              <a:t>THANK YOU</a:t>
            </a:r>
            <a:endParaRPr b="1" sz="17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