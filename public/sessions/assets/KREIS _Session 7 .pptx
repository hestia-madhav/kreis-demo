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y="5143500" cx="9144000"/>
  <p:notesSz cx="6858000" cy="9144000"/>
  <p:embeddedFontLst>
    <p:embeddedFont>
      <p:font typeface="Roboto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oboto-bold.fntdata"/><Relationship Id="rId25" Type="http://schemas.openxmlformats.org/officeDocument/2006/relationships/font" Target="fonts/Roboto-regular.fntdata"/><Relationship Id="rId28" Type="http://schemas.openxmlformats.org/officeDocument/2006/relationships/font" Target="fonts/Roboto-boldItalic.fntdata"/><Relationship Id="rId27" Type="http://schemas.openxmlformats.org/officeDocument/2006/relationships/font" Target="fonts/Robot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creativecommons.org/licenses/by-sa/4.0/legalcode" TargetMode="External"/><Relationship Id="rId3" Type="http://schemas.openxmlformats.org/officeDocument/2006/relationships/hyperlink" Target="https://commons.wikimedia.org/wiki/File:Ghoomar_dancers_%28Rajasthan,_India,_2023%29.jpg" TargetMode="Externa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commons.wikimedia.org/wiki/File:Mukuli_bihu_dance_performance_at_Guwahati_Assam.JPG" TargetMode="External"/><Relationship Id="rId3" Type="http://schemas.openxmlformats.org/officeDocument/2006/relationships/hyperlink" Target="https://creativecommons.org/licenses/by-sa/3.0/deed.en" TargetMode="Externa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commons.wikimedia.org/wiki/User:Suyash.dwivedi" TargetMode="External"/><Relationship Id="rId3" Type="http://schemas.openxmlformats.org/officeDocument/2006/relationships/hyperlink" Target="https://creativecommons.org/licenses/by-sa/4.0" TargetMode="External"/><Relationship Id="rId4" Type="http://schemas.openxmlformats.org/officeDocument/2006/relationships/hyperlink" Target="https://commons.wikimedia.org/wiki/File:Bharatnatym_Mudra_(45).jpg" TargetMode="Externa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en.wikipedia.org/wiki/Dal_Lake#/media/File:Dal_Lake_Hazratbal_Srinagar.jpg" TargetMode="External"/><Relationship Id="rId3" Type="http://schemas.openxmlformats.org/officeDocument/2006/relationships/hyperlink" Target="https://commons.wikimedia.org/wiki/User:Sofisuhail007" TargetMode="External"/><Relationship Id="rId4" Type="http://schemas.openxmlformats.org/officeDocument/2006/relationships/hyperlink" Target="https://creativecommons.org/licenses/by-sa/4.0" TargetMode="Externa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www.flickr.com/photos/ramesh_lalwani/4901588236" TargetMode="Externa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creativecommons.org/licenses/by-sa/4.0" TargetMode="External"/><Relationship Id="rId3" Type="http://schemas.openxmlformats.org/officeDocument/2006/relationships/hyperlink" Target="https://en.wikipedia.org/wiki/Bhangra_(dance)#/media/File:Bhangra-dance.jpg" TargetMode="Externa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creativecommons.org/licenses/by-sa/4.0" TargetMode="External"/><Relationship Id="rId3" Type="http://schemas.openxmlformats.org/officeDocument/2006/relationships/hyperlink" Target="https://en.wikipedia.org/wiki/Odissi#/media/File:Odissi_dance_at_Nishagandi_Dance_Festival_2024_(207).jpg" TargetMode="Externa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en.wikipedia.org/wiki/Yakshagana#/media/File:Yakshaganads.jpg" TargetMode="Externa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e4a248410f_0_2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e4a248410f_0_2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e56f8d82d5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e56f8d82d5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f6cb0bdfa7_1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f6cb0bdfa7_1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e0ebbcdb69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e0ebbcdb69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Creative expression - use latest guide - add in introduction part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f64fe31f28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f64fe31f28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f64fe31f28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f64fe31f28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f64fe31f28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f64fe31f28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f64fe31f28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f64fe31f28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050">
                <a:solidFill>
                  <a:srgbClr val="202122"/>
                </a:solidFill>
              </a:rPr>
              <a:t>Aali Jain, License </a:t>
            </a:r>
            <a:r>
              <a:rPr b="1" i="1" lang="en" sz="1050">
                <a:solidFill>
                  <a:schemeClr val="hlink"/>
                </a:solidFill>
                <a:uFill>
                  <a:noFill/>
                </a:uFill>
                <a:hlinkClick r:id="rId2"/>
              </a:rPr>
              <a:t>CC BY-SA</a:t>
            </a:r>
            <a:r>
              <a:rPr lang="en"/>
              <a:t>, </a:t>
            </a:r>
            <a:r>
              <a:rPr lang="en" u="sng">
                <a:solidFill>
                  <a:schemeClr val="hlink"/>
                </a:solidFill>
                <a:hlinkClick r:id="rId3"/>
              </a:rPr>
              <a:t>https://commons.wikimedia.org/wiki/File:Ghoomar_dancers_%28Rajasthan,_India,_2023%29.jpg</a:t>
            </a:r>
            <a:br>
              <a:rPr lang="en"/>
            </a:br>
            <a:br>
              <a:rPr lang="en"/>
            </a:br>
            <a:br>
              <a:rPr lang="en"/>
            </a:b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f64fe31f28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f64fe31f28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6B6B6B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Bihu dance performance in Guwahati Assam. Image by </a:t>
            </a:r>
            <a:r>
              <a:rPr lang="en" sz="1050">
                <a:solidFill>
                  <a:srgbClr val="0071AD"/>
                </a:solidFill>
                <a:uFill>
                  <a:noFill/>
                </a:uFill>
                <a:latin typeface="Roboto"/>
                <a:ea typeface="Roboto"/>
                <a:cs typeface="Roboto"/>
                <a:sym typeface="Roboto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Subhrajit</a:t>
            </a:r>
            <a:r>
              <a:rPr lang="en" sz="1050">
                <a:solidFill>
                  <a:srgbClr val="6B6B6B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via Wikimedia Commons. CC </a:t>
            </a:r>
            <a:r>
              <a:rPr lang="en" sz="1050">
                <a:solidFill>
                  <a:srgbClr val="0071AD"/>
                </a:solidFill>
                <a:uFill>
                  <a:noFill/>
                </a:uFill>
                <a:latin typeface="Roboto"/>
                <a:ea typeface="Roboto"/>
                <a:cs typeface="Roboto"/>
                <a:sym typeface="Roboto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BY-SA 3.0</a:t>
            </a:r>
            <a:br>
              <a:rPr lang="en"/>
            </a:br>
            <a:br>
              <a:rPr lang="en"/>
            </a:br>
            <a:br>
              <a:rPr lang="en"/>
            </a:b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f64fe31f28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f64fe31f28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90500" marR="190500" rtl="0" algn="l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202122"/>
                </a:solidFill>
                <a:highlight>
                  <a:srgbClr val="F8F9FA"/>
                </a:highlight>
              </a:rPr>
              <a:t>Bharatanatyam Facial expressions, </a:t>
            </a:r>
            <a:r>
              <a:rPr lang="en" sz="1000">
                <a:solidFill>
                  <a:schemeClr val="hlink"/>
                </a:solidFill>
                <a:uFill>
                  <a:noFill/>
                </a:uFill>
                <a:hlinkClick r:id="rId2"/>
              </a:rPr>
              <a:t>Suyash Dwivedi</a:t>
            </a:r>
            <a:r>
              <a:rPr lang="en" sz="700">
                <a:solidFill>
                  <a:schemeClr val="hlink"/>
                </a:solidFill>
              </a:rPr>
              <a:t>, </a:t>
            </a:r>
            <a:r>
              <a:rPr lang="en" sz="700">
                <a:solidFill>
                  <a:schemeClr val="hlink"/>
                </a:solidFill>
                <a:uFill>
                  <a:noFill/>
                </a:uFill>
                <a:hlinkClick r:id="rId3"/>
              </a:rPr>
              <a:t>CC BY-SA 4.0</a:t>
            </a:r>
            <a:r>
              <a:rPr lang="en" sz="700">
                <a:solidFill>
                  <a:schemeClr val="hlink"/>
                </a:solidFill>
              </a:rPr>
              <a:t> </a:t>
            </a:r>
            <a:r>
              <a:rPr lang="en" u="sng">
                <a:solidFill>
                  <a:schemeClr val="hlink"/>
                </a:solidFill>
                <a:hlinkClick r:id="rId4"/>
              </a:rPr>
              <a:t>https://commons.wikimedia.org/wiki/File:Bharatnatym_Mudra_(45).jpg</a:t>
            </a:r>
            <a:endParaRPr sz="700">
              <a:solidFill>
                <a:schemeClr val="hlink"/>
              </a:solidFill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f64fe31f28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f64fe31f28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f6cb0bdfa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f6cb0bdfa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f64fe31f28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f64fe31f28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https://en.wikipedia.org/wiki/Dal_Lake#/media/File:Dal_Lake_Hazratbal_Srinagar.jpg</a:t>
            </a:r>
            <a:r>
              <a:rPr lang="en" sz="900">
                <a:solidFill>
                  <a:schemeClr val="dk1"/>
                </a:solidFill>
              </a:rPr>
              <a:t>, View of Dal Lake, </a:t>
            </a:r>
            <a:r>
              <a:rPr lang="en" sz="1000">
                <a:solidFill>
                  <a:schemeClr val="hlink"/>
                </a:solidFill>
                <a:uFill>
                  <a:noFill/>
                </a:uFill>
                <a:hlinkClick r:id="rId3"/>
              </a:rPr>
              <a:t>Suhail Skindar Sofi</a:t>
            </a:r>
            <a:r>
              <a:rPr lang="en"/>
              <a:t>, </a:t>
            </a:r>
            <a:r>
              <a:rPr lang="en" sz="1000">
                <a:solidFill>
                  <a:schemeClr val="hlink"/>
                </a:solidFill>
                <a:uFill>
                  <a:noFill/>
                </a:uFill>
                <a:hlinkClick r:id="rId4"/>
              </a:rPr>
              <a:t>CC BY-SA 4.0</a:t>
            </a:r>
            <a:endParaRPr sz="1000">
              <a:solidFill>
                <a:schemeClr val="hlink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f64fe31f28_0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3f64fe31f28_0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https://www.flickr.com/photos/ramesh_lalwani/4901588236</a:t>
            </a:r>
            <a:r>
              <a:rPr lang="en" sz="1400">
                <a:solidFill>
                  <a:schemeClr val="dk1"/>
                </a:solidFill>
              </a:rPr>
              <a:t>, CC BY 2.0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200">
                <a:solidFill>
                  <a:srgbClr val="202122"/>
                </a:solidFill>
              </a:rPr>
              <a:t>Ramesh Lalwani</a:t>
            </a:r>
            <a:endParaRPr sz="1000">
              <a:solidFill>
                <a:schemeClr val="hlink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f64fe31f28_0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f64fe31f28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202122"/>
                </a:solidFill>
                <a:highlight>
                  <a:srgbClr val="F8F9FA"/>
                </a:highlight>
              </a:rPr>
              <a:t>Bhangra, Jaipuneetsingh, </a:t>
            </a:r>
            <a:r>
              <a:rPr lang="en" sz="1000">
                <a:solidFill>
                  <a:schemeClr val="hlink"/>
                </a:solidFill>
                <a:uFill>
                  <a:noFill/>
                </a:uFill>
                <a:hlinkClick r:id="rId2"/>
              </a:rPr>
              <a:t>CC BY-SA 4.0</a:t>
            </a:r>
            <a:r>
              <a:rPr lang="en" sz="1000">
                <a:solidFill>
                  <a:schemeClr val="hlink"/>
                </a:solidFill>
              </a:rPr>
              <a:t> </a:t>
            </a:r>
            <a:r>
              <a:rPr lang="en" u="sng">
                <a:solidFill>
                  <a:schemeClr val="hlink"/>
                </a:solidFill>
                <a:hlinkClick r:id="rId3"/>
              </a:rPr>
              <a:t>https://en.wikipedia.org/wiki/Bhangra_(dance)#/media/File:Bhangra-dance.jpg</a:t>
            </a:r>
            <a:endParaRPr sz="1000">
              <a:solidFill>
                <a:schemeClr val="hlink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f64fe31f28_0_1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f64fe31f28_0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202122"/>
                </a:solidFill>
                <a:highlight>
                  <a:srgbClr val="F8F9FA"/>
                </a:highlight>
              </a:rPr>
              <a:t>Odissi dance</a:t>
            </a:r>
            <a:r>
              <a:rPr lang="en" sz="1000">
                <a:solidFill>
                  <a:srgbClr val="202122"/>
                </a:solidFill>
                <a:highlight>
                  <a:srgbClr val="F8F9FA"/>
                </a:highlight>
              </a:rPr>
              <a:t>, </a:t>
            </a:r>
            <a:r>
              <a:rPr lang="en" sz="1000">
                <a:solidFill>
                  <a:srgbClr val="54595D"/>
                </a:solidFill>
                <a:highlight>
                  <a:srgbClr val="F8F9FA"/>
                </a:highlight>
              </a:rPr>
              <a:t>Shagil Kannur</a:t>
            </a:r>
            <a:r>
              <a:rPr lang="en" sz="1000">
                <a:solidFill>
                  <a:schemeClr val="hlink"/>
                </a:solidFill>
              </a:rPr>
              <a:t>, </a:t>
            </a:r>
            <a:r>
              <a:rPr lang="en" sz="1000">
                <a:solidFill>
                  <a:schemeClr val="hlink"/>
                </a:solidFill>
                <a:uFill>
                  <a:noFill/>
                </a:uFill>
                <a:hlinkClick r:id="rId2"/>
              </a:rPr>
              <a:t>CC BY-SA </a:t>
            </a:r>
            <a:r>
              <a:rPr lang="en" sz="1000">
                <a:solidFill>
                  <a:schemeClr val="hlink"/>
                </a:solidFill>
              </a:rPr>
              <a:t>3.0 </a:t>
            </a:r>
            <a:r>
              <a:rPr lang="en" u="sng">
                <a:solidFill>
                  <a:schemeClr val="hlink"/>
                </a:solidFill>
                <a:hlinkClick r:id="rId3"/>
              </a:rPr>
              <a:t>https://en.wikipedia.org/wiki/Odissi#/media/File:Odissi_dance_at_Nishagandi_Dance_Festival_2024_(207).jpg</a:t>
            </a:r>
            <a:endParaRPr sz="1000">
              <a:solidFill>
                <a:schemeClr val="hlink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f64fe31f28_0_1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3f64fe31f28_0_1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hlink"/>
                </a:solidFill>
              </a:rPr>
              <a:t>Deepak Shetty, CC BY-SA 3.0  </a:t>
            </a:r>
            <a:r>
              <a:rPr lang="en" u="sng">
                <a:solidFill>
                  <a:schemeClr val="hlink"/>
                </a:solidFill>
                <a:hlinkClick r:id="rId2"/>
              </a:rPr>
              <a:t>https://en.wikipedia.org/wiki/Yakshagana#/media/File:Yakshaganads.jpg</a:t>
            </a:r>
            <a:endParaRPr sz="1000">
              <a:solidFill>
                <a:schemeClr val="hlink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f64fe31f28_0_1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3f64fe31f28_0_1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hlink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f64fe31f28_0_1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3f64fe31f28_0_1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hlink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1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3.gif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Relationship Id="rId4" Type="http://schemas.openxmlformats.org/officeDocument/2006/relationships/image" Target="../media/image1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Relationship Id="rId4" Type="http://schemas.openxmlformats.org/officeDocument/2006/relationships/image" Target="../media/image9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Relationship Id="rId4" Type="http://schemas.openxmlformats.org/officeDocument/2006/relationships/image" Target="../media/image10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Relationship Id="rId4" Type="http://schemas.openxmlformats.org/officeDocument/2006/relationships/image" Target="../media/image1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446100" y="255800"/>
            <a:ext cx="8251800" cy="103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Landing/Opening Page </a:t>
            </a:r>
            <a:endParaRPr sz="3000"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1909450"/>
            <a:ext cx="8520600" cy="120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" sz="1400">
                <a:solidFill>
                  <a:schemeClr val="dk1"/>
                </a:solidFill>
              </a:rPr>
              <a:t>Full-screen graphic:</a:t>
            </a:r>
            <a:r>
              <a:rPr lang="en" sz="1400">
                <a:solidFill>
                  <a:schemeClr val="dk1"/>
                </a:solidFill>
              </a:rPr>
              <a:t> KRIES logo, CMCA logo + upbeat welcome music. 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" sz="1400">
                <a:solidFill>
                  <a:schemeClr val="dk1"/>
                </a:solidFill>
              </a:rPr>
              <a:t>On-screen text:</a:t>
            </a:r>
            <a:r>
              <a:rPr lang="en" sz="1400">
                <a:solidFill>
                  <a:schemeClr val="dk1"/>
                </a:solidFill>
              </a:rPr>
              <a:t> </a:t>
            </a:r>
            <a:r>
              <a:rPr i="1" lang="en" sz="1400">
                <a:solidFill>
                  <a:schemeClr val="dk1"/>
                </a:solidFill>
              </a:rPr>
              <a:t>“Welcome to the Children’s Constitution Club!”</a:t>
            </a:r>
            <a:endParaRPr i="1" sz="14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440"/>
              <a:buNone/>
            </a:pPr>
            <a:r>
              <a:t/>
            </a:r>
            <a:endParaRPr sz="152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ctrTitle"/>
          </p:nvPr>
        </p:nvSpPr>
        <p:spPr>
          <a:xfrm>
            <a:off x="3033750" y="67125"/>
            <a:ext cx="5658300" cy="106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Diversity in classroom</a:t>
            </a:r>
            <a:endParaRPr sz="3000"/>
          </a:p>
        </p:txBody>
      </p:sp>
      <p:sp>
        <p:nvSpPr>
          <p:cNvPr id="61" name="Google Shape;61;p14"/>
          <p:cNvSpPr txBox="1"/>
          <p:nvPr>
            <p:ph idx="1" type="subTitle"/>
          </p:nvPr>
        </p:nvSpPr>
        <p:spPr>
          <a:xfrm>
            <a:off x="2353325" y="1054700"/>
            <a:ext cx="5946600" cy="359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b="1" lang="en" sz="1400">
                <a:solidFill>
                  <a:schemeClr val="dk1"/>
                </a:solidFill>
              </a:rPr>
              <a:t>On screen text:</a:t>
            </a:r>
            <a:br>
              <a:rPr b="1" lang="en" sz="1400">
                <a:solidFill>
                  <a:schemeClr val="dk1"/>
                </a:solidFill>
              </a:rPr>
            </a:b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Look at your classmates around you and find something you have in common with one of them</a:t>
            </a:r>
            <a:endParaRPr sz="14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" sz="1400">
                <a:solidFill>
                  <a:schemeClr val="dk1"/>
                </a:solidFill>
              </a:rPr>
            </a:b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Now look around and find something that makes you different from your classmate</a:t>
            </a:r>
            <a:br>
              <a:rPr lang="en" sz="1400">
                <a:solidFill>
                  <a:schemeClr val="dk1"/>
                </a:solidFill>
              </a:rPr>
            </a:br>
            <a:br>
              <a:rPr lang="en" sz="1400">
                <a:solidFill>
                  <a:schemeClr val="dk1"/>
                </a:solidFill>
              </a:rPr>
            </a:br>
            <a:endParaRPr sz="14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450">
                <a:solidFill>
                  <a:schemeClr val="dk1"/>
                </a:solidFill>
              </a:rPr>
              <a:t>Just like we have things in common and things that make us unique, so does the whole country!</a:t>
            </a:r>
            <a:endParaRPr b="1" sz="145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sz="900"/>
          </a:p>
        </p:txBody>
      </p:sp>
      <p:sp>
        <p:nvSpPr>
          <p:cNvPr id="62" name="Google Shape;62;p14"/>
          <p:cNvSpPr txBox="1"/>
          <p:nvPr/>
        </p:nvSpPr>
        <p:spPr>
          <a:xfrm>
            <a:off x="-106076" y="926012"/>
            <a:ext cx="2308500" cy="11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Recall Bar</a:t>
            </a:r>
            <a:br>
              <a:rPr lang="en">
                <a:solidFill>
                  <a:schemeClr val="dk1"/>
                </a:solidFill>
              </a:rPr>
            </a:br>
            <a:r>
              <a:rPr b="1" lang="en">
                <a:solidFill>
                  <a:schemeClr val="dk1"/>
                </a:solidFill>
              </a:rPr>
              <a:t>Diversity in classroom</a:t>
            </a:r>
            <a:endParaRPr b="1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</p:txBody>
      </p:sp>
      <p:pic>
        <p:nvPicPr>
          <p:cNvPr id="63" name="Google Shape;6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91851" y="67113"/>
            <a:ext cx="87118" cy="50092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ctrTitle"/>
          </p:nvPr>
        </p:nvSpPr>
        <p:spPr>
          <a:xfrm>
            <a:off x="2268550" y="67125"/>
            <a:ext cx="6201900" cy="106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Creative expression (optional activity)</a:t>
            </a:r>
            <a:endParaRPr sz="3000"/>
          </a:p>
        </p:txBody>
      </p:sp>
      <p:sp>
        <p:nvSpPr>
          <p:cNvPr id="69" name="Google Shape;69;p15"/>
          <p:cNvSpPr txBox="1"/>
          <p:nvPr>
            <p:ph idx="1" type="subTitle"/>
          </p:nvPr>
        </p:nvSpPr>
        <p:spPr>
          <a:xfrm>
            <a:off x="2202425" y="1130025"/>
            <a:ext cx="4245300" cy="359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b="1" lang="en" sz="1400">
                <a:solidFill>
                  <a:schemeClr val="dk1"/>
                </a:solidFill>
              </a:rPr>
              <a:t>On screen text:</a:t>
            </a:r>
            <a:br>
              <a:rPr b="1" lang="en" sz="1400">
                <a:solidFill>
                  <a:schemeClr val="dk1"/>
                </a:solidFill>
              </a:rPr>
            </a:br>
            <a:br>
              <a:rPr lang="en" sz="1400">
                <a:solidFill>
                  <a:schemeClr val="dk1"/>
                </a:solidFill>
              </a:rPr>
            </a:br>
            <a:endParaRPr sz="14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400">
                <a:solidFill>
                  <a:schemeClr val="dk1"/>
                </a:solidFill>
              </a:rPr>
              <a:t>Look at the shapes, textures, colour, imperfections on the leaf</a:t>
            </a:r>
            <a:endParaRPr sz="14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400">
                <a:solidFill>
                  <a:schemeClr val="dk1"/>
                </a:solidFill>
              </a:rPr>
              <a:t>In your notebooks, draw the leaf from your observation - crayons, colour pencils, or simple line drawings – your choice!</a:t>
            </a:r>
            <a:endParaRPr sz="14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400">
                <a:solidFill>
                  <a:schemeClr val="dk1"/>
                </a:solidFill>
              </a:rPr>
              <a:t>Capture as many details as you can in your own style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</a:rPr>
              <a:t>Countdown timer: 10 minutes</a:t>
            </a:r>
            <a:br>
              <a:rPr lang="en" sz="1400">
                <a:solidFill>
                  <a:schemeClr val="dk1"/>
                </a:solidFill>
              </a:rPr>
            </a:br>
            <a:r>
              <a:rPr lang="en" sz="1400">
                <a:solidFill>
                  <a:schemeClr val="dk1"/>
                </a:solidFill>
              </a:rPr>
              <a:t>Reminder: 3 minutes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sz="900"/>
          </a:p>
        </p:txBody>
      </p:sp>
      <p:sp>
        <p:nvSpPr>
          <p:cNvPr id="70" name="Google Shape;70;p15"/>
          <p:cNvSpPr txBox="1"/>
          <p:nvPr/>
        </p:nvSpPr>
        <p:spPr>
          <a:xfrm>
            <a:off x="-106076" y="926012"/>
            <a:ext cx="2308500" cy="16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Recall Bar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Diversity in classroom</a:t>
            </a:r>
            <a:br>
              <a:rPr lang="en">
                <a:solidFill>
                  <a:schemeClr val="dk1"/>
                </a:solidFill>
              </a:rPr>
            </a:br>
            <a:r>
              <a:rPr b="1" lang="en">
                <a:solidFill>
                  <a:schemeClr val="dk1"/>
                </a:solidFill>
              </a:rPr>
              <a:t>Creative expression (optional)</a:t>
            </a:r>
            <a:endParaRPr b="1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                    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</p:txBody>
      </p:sp>
      <p:pic>
        <p:nvPicPr>
          <p:cNvPr id="71" name="Google Shape;71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91851" y="67113"/>
            <a:ext cx="87118" cy="50092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utumn hues (Provided by Getty Images)" id="72" name="Google Shape;72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22725" y="1465399"/>
            <a:ext cx="2520852" cy="24162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/>
          <p:nvPr>
            <p:ph type="ctrTitle"/>
          </p:nvPr>
        </p:nvSpPr>
        <p:spPr>
          <a:xfrm>
            <a:off x="3033750" y="67125"/>
            <a:ext cx="5658300" cy="106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Diversity in India</a:t>
            </a:r>
            <a:endParaRPr sz="3000"/>
          </a:p>
        </p:txBody>
      </p:sp>
      <p:sp>
        <p:nvSpPr>
          <p:cNvPr id="78" name="Google Shape;78;p16"/>
          <p:cNvSpPr txBox="1"/>
          <p:nvPr>
            <p:ph idx="1" type="subTitle"/>
          </p:nvPr>
        </p:nvSpPr>
        <p:spPr>
          <a:xfrm>
            <a:off x="2720500" y="926000"/>
            <a:ext cx="5784300" cy="47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b="1" lang="en" sz="1400">
                <a:solidFill>
                  <a:schemeClr val="dk1"/>
                </a:solidFill>
              </a:rPr>
              <a:t>On screen text: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" sz="1400">
                <a:solidFill>
                  <a:schemeClr val="dk1"/>
                </a:solidFill>
              </a:rPr>
            </a:br>
            <a:endParaRPr sz="1800">
              <a:solidFill>
                <a:schemeClr val="dk1"/>
              </a:solidFill>
            </a:endParaRPr>
          </a:p>
          <a:p>
            <a:pPr indent="-3079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Char char="●"/>
            </a:pPr>
            <a:r>
              <a:rPr lang="en" sz="1250">
                <a:solidFill>
                  <a:schemeClr val="dk1"/>
                </a:solidFill>
              </a:rPr>
              <a:t>We will now explore India’s diversity through our many states! Make sure you are all seated in your groups </a:t>
            </a:r>
            <a:endParaRPr sz="1250">
              <a:solidFill>
                <a:schemeClr val="dk1"/>
              </a:solidFill>
            </a:endParaRPr>
          </a:p>
          <a:p>
            <a:pPr indent="-3079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Char char="●"/>
            </a:pPr>
            <a:r>
              <a:rPr lang="en" sz="1250">
                <a:solidFill>
                  <a:schemeClr val="dk1"/>
                </a:solidFill>
              </a:rPr>
              <a:t>Teacher to distribute State Information Cards (Annexure 1) to groups as follows and Annexure 2 to all groups</a:t>
            </a:r>
            <a:endParaRPr sz="1250">
              <a:solidFill>
                <a:schemeClr val="dk1"/>
              </a:solidFill>
            </a:endParaRPr>
          </a:p>
          <a:p>
            <a:pPr indent="-307975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Char char="○"/>
            </a:pPr>
            <a:r>
              <a:rPr lang="en" sz="1250">
                <a:solidFill>
                  <a:schemeClr val="dk1"/>
                </a:solidFill>
              </a:rPr>
              <a:t>Group 1: Rajasthan, Kerala</a:t>
            </a:r>
            <a:endParaRPr sz="1250">
              <a:solidFill>
                <a:schemeClr val="dk1"/>
              </a:solidFill>
            </a:endParaRPr>
          </a:p>
          <a:p>
            <a:pPr indent="-307975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Char char="○"/>
            </a:pPr>
            <a:r>
              <a:rPr lang="en" sz="1250">
                <a:solidFill>
                  <a:schemeClr val="dk1"/>
                </a:solidFill>
              </a:rPr>
              <a:t>Group 2: Assam, Maharashtra</a:t>
            </a:r>
            <a:endParaRPr sz="1250">
              <a:solidFill>
                <a:schemeClr val="dk1"/>
              </a:solidFill>
            </a:endParaRPr>
          </a:p>
          <a:p>
            <a:pPr indent="-307975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Char char="○"/>
            </a:pPr>
            <a:r>
              <a:rPr lang="en" sz="1250">
                <a:solidFill>
                  <a:schemeClr val="dk1"/>
                </a:solidFill>
              </a:rPr>
              <a:t>Group 3: Tamil Nadu, Manipur</a:t>
            </a:r>
            <a:endParaRPr sz="1250">
              <a:solidFill>
                <a:schemeClr val="dk1"/>
              </a:solidFill>
            </a:endParaRPr>
          </a:p>
          <a:p>
            <a:pPr indent="-307975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Char char="○"/>
            </a:pPr>
            <a:r>
              <a:rPr lang="en" sz="1250">
                <a:solidFill>
                  <a:schemeClr val="dk1"/>
                </a:solidFill>
              </a:rPr>
              <a:t>Group 4: Odisha, Punjab</a:t>
            </a:r>
            <a:endParaRPr sz="1250">
              <a:solidFill>
                <a:schemeClr val="dk1"/>
              </a:solidFill>
            </a:endParaRPr>
          </a:p>
          <a:p>
            <a:pPr indent="-307975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Char char="○"/>
            </a:pPr>
            <a:r>
              <a:rPr lang="en" sz="1250">
                <a:solidFill>
                  <a:schemeClr val="dk1"/>
                </a:solidFill>
              </a:rPr>
              <a:t>Group 5: Karnataka, Kashmir</a:t>
            </a:r>
            <a:endParaRPr sz="12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sz="900"/>
          </a:p>
        </p:txBody>
      </p:sp>
      <p:sp>
        <p:nvSpPr>
          <p:cNvPr id="79" name="Google Shape;79;p16"/>
          <p:cNvSpPr txBox="1"/>
          <p:nvPr/>
        </p:nvSpPr>
        <p:spPr>
          <a:xfrm>
            <a:off x="44824" y="926012"/>
            <a:ext cx="2308500" cy="16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Recall Bar</a:t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Diversity in classroom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Creative expression (optional)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Diversity in India</a:t>
            </a:r>
            <a:endParaRPr b="1">
              <a:solidFill>
                <a:schemeClr val="dk1"/>
              </a:solidFill>
            </a:endParaRPr>
          </a:p>
        </p:txBody>
      </p:sp>
      <p:pic>
        <p:nvPicPr>
          <p:cNvPr id="80" name="Google Shape;8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4226" y="67100"/>
            <a:ext cx="87118" cy="5009276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6"/>
          <p:cNvSpPr txBox="1"/>
          <p:nvPr/>
        </p:nvSpPr>
        <p:spPr>
          <a:xfrm>
            <a:off x="5047475" y="5923000"/>
            <a:ext cx="3000000" cy="10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Note for teacher: Explain/remind students about the school profile in case they don’t remember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7"/>
          <p:cNvSpPr txBox="1"/>
          <p:nvPr>
            <p:ph type="ctrTitle"/>
          </p:nvPr>
        </p:nvSpPr>
        <p:spPr>
          <a:xfrm>
            <a:off x="3033750" y="67125"/>
            <a:ext cx="5658300" cy="106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Diversity in India</a:t>
            </a:r>
            <a:endParaRPr sz="3000"/>
          </a:p>
        </p:txBody>
      </p:sp>
      <p:sp>
        <p:nvSpPr>
          <p:cNvPr id="87" name="Google Shape;87;p17"/>
          <p:cNvSpPr txBox="1"/>
          <p:nvPr>
            <p:ph idx="1" type="subTitle"/>
          </p:nvPr>
        </p:nvSpPr>
        <p:spPr>
          <a:xfrm>
            <a:off x="2413713" y="926000"/>
            <a:ext cx="3579900" cy="75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b="1" lang="en" sz="1400">
                <a:solidFill>
                  <a:schemeClr val="dk1"/>
                </a:solidFill>
              </a:rPr>
              <a:t>On screen text: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" sz="1400">
                <a:solidFill>
                  <a:schemeClr val="dk1"/>
                </a:solidFill>
              </a:rPr>
            </a:br>
            <a:endParaRPr sz="1800">
              <a:solidFill>
                <a:schemeClr val="dk1"/>
              </a:solidFill>
            </a:endParaRPr>
          </a:p>
          <a:p>
            <a:pPr indent="-3079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Char char="●"/>
            </a:pPr>
            <a:r>
              <a:rPr lang="en" sz="1250">
                <a:solidFill>
                  <a:schemeClr val="dk1"/>
                </a:solidFill>
              </a:rPr>
              <a:t>Look at the Information Card and discuss what’s special about the states!</a:t>
            </a:r>
            <a:endParaRPr sz="1250">
              <a:solidFill>
                <a:schemeClr val="dk1"/>
              </a:solidFill>
            </a:endParaRPr>
          </a:p>
          <a:p>
            <a:pPr indent="-3079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Char char="●"/>
            </a:pPr>
            <a:r>
              <a:rPr lang="en" sz="1250">
                <a:solidFill>
                  <a:schemeClr val="dk1"/>
                </a:solidFill>
              </a:rPr>
              <a:t>Identify the states in the map</a:t>
            </a:r>
            <a:endParaRPr sz="1250">
              <a:solidFill>
                <a:schemeClr val="dk1"/>
              </a:solidFill>
            </a:endParaRPr>
          </a:p>
          <a:p>
            <a:pPr indent="-3079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Char char="●"/>
            </a:pPr>
            <a:r>
              <a:rPr lang="en" sz="1250">
                <a:solidFill>
                  <a:schemeClr val="dk1"/>
                </a:solidFill>
              </a:rPr>
              <a:t>Note down 2 or more interesting things about each state/draw something/write down fun facts you know about the language</a:t>
            </a:r>
            <a:endParaRPr sz="12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50">
                <a:solidFill>
                  <a:schemeClr val="dk1"/>
                </a:solidFill>
              </a:rPr>
              <a:t>Countdown timer: 7 minutes</a:t>
            </a:r>
            <a:endParaRPr sz="12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50">
                <a:solidFill>
                  <a:schemeClr val="dk1"/>
                </a:solidFill>
              </a:rPr>
              <a:t>Reminder: 3 minutes</a:t>
            </a:r>
            <a:endParaRPr sz="12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sz="900"/>
          </a:p>
        </p:txBody>
      </p:sp>
      <p:sp>
        <p:nvSpPr>
          <p:cNvPr id="88" name="Google Shape;88;p17"/>
          <p:cNvSpPr txBox="1"/>
          <p:nvPr/>
        </p:nvSpPr>
        <p:spPr>
          <a:xfrm>
            <a:off x="44824" y="926012"/>
            <a:ext cx="2308500" cy="18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Recall Bar</a:t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Diversity in classroom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Creative expression (optional)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Diversity in India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89" name="Google Shape;89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4226" y="67100"/>
            <a:ext cx="87118" cy="5009276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7"/>
          <p:cNvSpPr txBox="1"/>
          <p:nvPr/>
        </p:nvSpPr>
        <p:spPr>
          <a:xfrm>
            <a:off x="5047475" y="5923000"/>
            <a:ext cx="3000000" cy="10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Note for teacher: Explain/remind students about the school profile in case they don’t remember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</p:txBody>
      </p:sp>
      <p:pic>
        <p:nvPicPr>
          <p:cNvPr id="91" name="Google Shape;91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44000" y="1271800"/>
            <a:ext cx="2999999" cy="30437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8"/>
          <p:cNvSpPr txBox="1"/>
          <p:nvPr>
            <p:ph type="ctrTitle"/>
          </p:nvPr>
        </p:nvSpPr>
        <p:spPr>
          <a:xfrm>
            <a:off x="3033750" y="67125"/>
            <a:ext cx="5658300" cy="106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Quiz on diversity</a:t>
            </a:r>
            <a:endParaRPr sz="3000"/>
          </a:p>
        </p:txBody>
      </p:sp>
      <p:sp>
        <p:nvSpPr>
          <p:cNvPr id="97" name="Google Shape;97;p18"/>
          <p:cNvSpPr txBox="1"/>
          <p:nvPr>
            <p:ph idx="1" type="subTitle"/>
          </p:nvPr>
        </p:nvSpPr>
        <p:spPr>
          <a:xfrm>
            <a:off x="2413725" y="926000"/>
            <a:ext cx="6200700" cy="365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b="1" lang="en" sz="1400">
                <a:solidFill>
                  <a:schemeClr val="dk1"/>
                </a:solidFill>
              </a:rPr>
              <a:t>On screen text: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" sz="1400">
                <a:solidFill>
                  <a:schemeClr val="dk1"/>
                </a:solidFill>
              </a:rPr>
            </a:b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50">
                <a:solidFill>
                  <a:schemeClr val="dk1"/>
                </a:solidFill>
              </a:rPr>
              <a:t>We will now have a fun quiz!</a:t>
            </a:r>
            <a:endParaRPr sz="12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50">
                <a:solidFill>
                  <a:schemeClr val="dk1"/>
                </a:solidFill>
              </a:rPr>
              <a:t>Each correct answer will give a group 100 points!</a:t>
            </a:r>
            <a:br>
              <a:rPr lang="en" sz="1250">
                <a:solidFill>
                  <a:schemeClr val="dk1"/>
                </a:solidFill>
              </a:rPr>
            </a:br>
            <a:br>
              <a:rPr lang="en" sz="1250">
                <a:solidFill>
                  <a:schemeClr val="dk1"/>
                </a:solidFill>
              </a:rPr>
            </a:br>
            <a:r>
              <a:rPr lang="en" sz="1250">
                <a:solidFill>
                  <a:schemeClr val="dk1"/>
                </a:solidFill>
              </a:rPr>
              <a:t>Along with the answer, we will also be dancing</a:t>
            </a:r>
            <a:endParaRPr sz="12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50">
                <a:solidFill>
                  <a:schemeClr val="dk1"/>
                </a:solidFill>
              </a:rPr>
              <a:t>Are you ready? Let’s go!</a:t>
            </a:r>
            <a:endParaRPr sz="12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sz="900"/>
          </a:p>
        </p:txBody>
      </p:sp>
      <p:sp>
        <p:nvSpPr>
          <p:cNvPr id="98" name="Google Shape;98;p18"/>
          <p:cNvSpPr txBox="1"/>
          <p:nvPr/>
        </p:nvSpPr>
        <p:spPr>
          <a:xfrm>
            <a:off x="44824" y="926012"/>
            <a:ext cx="2308500" cy="18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Recall Bar</a:t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Diversity in classroom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Creative expression (optional)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Diversity in India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Quiz on diversity </a:t>
            </a:r>
            <a:endParaRPr b="1">
              <a:solidFill>
                <a:schemeClr val="dk1"/>
              </a:solidFill>
            </a:endParaRPr>
          </a:p>
        </p:txBody>
      </p:sp>
      <p:pic>
        <p:nvPicPr>
          <p:cNvPr id="99" name="Google Shape;9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4226" y="67100"/>
            <a:ext cx="87118" cy="5009276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8"/>
          <p:cNvSpPr txBox="1"/>
          <p:nvPr/>
        </p:nvSpPr>
        <p:spPr>
          <a:xfrm>
            <a:off x="5047475" y="5923000"/>
            <a:ext cx="3000000" cy="10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Note for teacher: Explain/remind students about the school profile in case they don’t remember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</p:txBody>
      </p:sp>
      <p:pic>
        <p:nvPicPr>
          <p:cNvPr descr="the number 100 is written in red with a white background (Provided by Tenor)" id="101" name="Google Shape;101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82850" y="1284487"/>
            <a:ext cx="1979427" cy="19794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9"/>
          <p:cNvSpPr txBox="1"/>
          <p:nvPr>
            <p:ph type="ctrTitle"/>
          </p:nvPr>
        </p:nvSpPr>
        <p:spPr>
          <a:xfrm>
            <a:off x="3033750" y="67125"/>
            <a:ext cx="5658300" cy="106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Quiz question 1</a:t>
            </a:r>
            <a:endParaRPr sz="3000"/>
          </a:p>
        </p:txBody>
      </p:sp>
      <p:sp>
        <p:nvSpPr>
          <p:cNvPr id="107" name="Google Shape;107;p19"/>
          <p:cNvSpPr txBox="1"/>
          <p:nvPr>
            <p:ph idx="1" type="subTitle"/>
          </p:nvPr>
        </p:nvSpPr>
        <p:spPr>
          <a:xfrm>
            <a:off x="2413725" y="926000"/>
            <a:ext cx="4314300" cy="365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b="1" lang="en" sz="1400">
                <a:solidFill>
                  <a:schemeClr val="dk1"/>
                </a:solidFill>
              </a:rPr>
              <a:t>On screen text: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" sz="1400">
                <a:solidFill>
                  <a:schemeClr val="dk1"/>
                </a:solidFill>
              </a:rPr>
            </a:br>
            <a:r>
              <a:rPr lang="en" sz="1250">
                <a:solidFill>
                  <a:schemeClr val="dk1"/>
                </a:solidFill>
              </a:rPr>
              <a:t>Which dance form involves dramatic storytelling with colourful costumes and intricate gestures, and is performed in Kerala?</a:t>
            </a:r>
            <a:endParaRPr sz="12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" sz="1250">
                <a:solidFill>
                  <a:schemeClr val="dk1"/>
                </a:solidFill>
              </a:rPr>
            </a:br>
            <a:br>
              <a:rPr lang="en" sz="1250">
                <a:solidFill>
                  <a:schemeClr val="dk1"/>
                </a:solidFill>
              </a:rPr>
            </a:br>
            <a:r>
              <a:rPr b="1" lang="en" sz="1250">
                <a:solidFill>
                  <a:schemeClr val="dk1"/>
                </a:solidFill>
              </a:rPr>
              <a:t>Kathakali Dance!</a:t>
            </a:r>
            <a:r>
              <a:rPr lang="en" sz="1250">
                <a:solidFill>
                  <a:schemeClr val="dk1"/>
                </a:solidFill>
              </a:rPr>
              <a:t> </a:t>
            </a:r>
            <a:endParaRPr sz="12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" sz="1250">
                <a:solidFill>
                  <a:schemeClr val="dk1"/>
                </a:solidFill>
              </a:rPr>
            </a:br>
            <a:r>
              <a:rPr b="1" lang="en" sz="1250">
                <a:solidFill>
                  <a:schemeClr val="dk1"/>
                </a:solidFill>
              </a:rPr>
              <a:t>Dance Move:</a:t>
            </a:r>
            <a:r>
              <a:rPr lang="en" sz="1250">
                <a:solidFill>
                  <a:schemeClr val="dk1"/>
                </a:solidFill>
              </a:rPr>
              <a:t> Strike a "Kathakali Pose" with strong hand gestures and dramatic expressions! </a:t>
            </a:r>
            <a:br>
              <a:rPr lang="en" sz="1250">
                <a:solidFill>
                  <a:schemeClr val="dk1"/>
                </a:solidFill>
              </a:rPr>
            </a:br>
            <a:br>
              <a:rPr lang="en" sz="1250">
                <a:solidFill>
                  <a:schemeClr val="dk1"/>
                </a:solidFill>
              </a:rPr>
            </a:br>
            <a:br>
              <a:rPr lang="en" sz="125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Note: Play a 30 second Kathakali youtube video in class</a:t>
            </a:r>
            <a:endParaRPr sz="12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50">
                <a:solidFill>
                  <a:schemeClr val="dk1"/>
                </a:solidFill>
              </a:rPr>
              <a:t> </a:t>
            </a:r>
            <a:endParaRPr sz="12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sz="900"/>
          </a:p>
        </p:txBody>
      </p:sp>
      <p:sp>
        <p:nvSpPr>
          <p:cNvPr id="108" name="Google Shape;108;p19"/>
          <p:cNvSpPr txBox="1"/>
          <p:nvPr/>
        </p:nvSpPr>
        <p:spPr>
          <a:xfrm>
            <a:off x="44824" y="926012"/>
            <a:ext cx="2308500" cy="21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Recall Bar</a:t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Diversity in classroom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Creative expression (optional)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Diversity in India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Quiz on diversity 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09" name="Google Shape;10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4226" y="67100"/>
            <a:ext cx="87118" cy="5009276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9"/>
          <p:cNvSpPr txBox="1"/>
          <p:nvPr/>
        </p:nvSpPr>
        <p:spPr>
          <a:xfrm>
            <a:off x="5047475" y="5923000"/>
            <a:ext cx="3000000" cy="10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Note for teacher: Explain/remind students about the school profile in case they don’t remember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</p:txBody>
      </p:sp>
      <p:pic>
        <p:nvPicPr>
          <p:cNvPr id="111" name="Google Shape;11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52600" y="1265525"/>
            <a:ext cx="2156050" cy="32542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0"/>
          <p:cNvSpPr txBox="1"/>
          <p:nvPr>
            <p:ph type="ctrTitle"/>
          </p:nvPr>
        </p:nvSpPr>
        <p:spPr>
          <a:xfrm>
            <a:off x="2908000" y="67100"/>
            <a:ext cx="5658300" cy="106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Quiz question 2</a:t>
            </a:r>
            <a:endParaRPr sz="3000"/>
          </a:p>
        </p:txBody>
      </p:sp>
      <p:sp>
        <p:nvSpPr>
          <p:cNvPr id="117" name="Google Shape;117;p20"/>
          <p:cNvSpPr txBox="1"/>
          <p:nvPr>
            <p:ph idx="1" type="subTitle"/>
          </p:nvPr>
        </p:nvSpPr>
        <p:spPr>
          <a:xfrm>
            <a:off x="2413725" y="926000"/>
            <a:ext cx="3255600" cy="365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b="1" lang="en" sz="1400">
                <a:solidFill>
                  <a:schemeClr val="dk1"/>
                </a:solidFill>
              </a:rPr>
              <a:t>On screen text: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" sz="1400">
                <a:solidFill>
                  <a:schemeClr val="dk1"/>
                </a:solidFill>
              </a:rPr>
            </a:br>
            <a:br>
              <a:rPr lang="en" sz="1200">
                <a:solidFill>
                  <a:schemeClr val="dk1"/>
                </a:solidFill>
              </a:rPr>
            </a:br>
            <a:br>
              <a:rPr lang="en" sz="1200">
                <a:solidFill>
                  <a:schemeClr val="dk1"/>
                </a:solidFill>
              </a:rPr>
            </a:br>
            <a:r>
              <a:rPr lang="en" sz="1200">
                <a:solidFill>
                  <a:schemeClr val="dk1"/>
                </a:solidFill>
              </a:rPr>
              <a:t>This famous landmark, known for its grand architecture, is located in Rajasthan and is a UNESCO World Heritage site. It also served as a royal palace.</a:t>
            </a:r>
            <a:br>
              <a:rPr lang="en" sz="1200">
                <a:solidFill>
                  <a:schemeClr val="dk1"/>
                </a:solidFill>
              </a:rPr>
            </a:br>
            <a:br>
              <a:rPr lang="en" sz="1200">
                <a:solidFill>
                  <a:schemeClr val="dk1"/>
                </a:solidFill>
              </a:rPr>
            </a:br>
            <a:r>
              <a:rPr lang="en" sz="1200">
                <a:solidFill>
                  <a:schemeClr val="dk1"/>
                </a:solidFill>
              </a:rPr>
              <a:t>Amber Fort!</a:t>
            </a:r>
            <a:br>
              <a:rPr lang="en" sz="1200">
                <a:solidFill>
                  <a:schemeClr val="dk1"/>
                </a:solidFill>
              </a:rPr>
            </a:b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</a:rPr>
              <a:t>Dance Move: </a:t>
            </a:r>
            <a:r>
              <a:rPr lang="en" sz="1200">
                <a:solidFill>
                  <a:schemeClr val="dk1"/>
                </a:solidFill>
              </a:rPr>
              <a:t>Perform a “Ghoomar Spin” to celebrate the regal grandeur of Rajasthan.</a:t>
            </a:r>
            <a:endParaRPr b="1"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50">
                <a:solidFill>
                  <a:schemeClr val="dk1"/>
                </a:solidFill>
              </a:rPr>
              <a:t> </a:t>
            </a:r>
            <a:endParaRPr sz="12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5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Note: Play a 30 second Ghoomar youtube video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sz="900"/>
          </a:p>
        </p:txBody>
      </p:sp>
      <p:sp>
        <p:nvSpPr>
          <p:cNvPr id="118" name="Google Shape;118;p20"/>
          <p:cNvSpPr txBox="1"/>
          <p:nvPr/>
        </p:nvSpPr>
        <p:spPr>
          <a:xfrm>
            <a:off x="44824" y="926012"/>
            <a:ext cx="2308500" cy="21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Recall Bar</a:t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Diversity in classroom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Creative expression (optional)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Diversity in India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Quiz on diversity 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19" name="Google Shape;119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4226" y="67100"/>
            <a:ext cx="87118" cy="5009276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20"/>
          <p:cNvSpPr txBox="1"/>
          <p:nvPr/>
        </p:nvSpPr>
        <p:spPr>
          <a:xfrm>
            <a:off x="5047475" y="5923000"/>
            <a:ext cx="3000000" cy="10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Note for teacher: Explain/remind students about the school profile in case they don’t remember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</p:txBody>
      </p:sp>
      <p:pic>
        <p:nvPicPr>
          <p:cNvPr id="121" name="Google Shape;121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21725" y="1282400"/>
            <a:ext cx="3169877" cy="21132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1"/>
          <p:cNvSpPr txBox="1"/>
          <p:nvPr>
            <p:ph type="ctrTitle"/>
          </p:nvPr>
        </p:nvSpPr>
        <p:spPr>
          <a:xfrm>
            <a:off x="2908000" y="67100"/>
            <a:ext cx="5658300" cy="106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Quiz question 3</a:t>
            </a:r>
            <a:endParaRPr sz="3000"/>
          </a:p>
        </p:txBody>
      </p:sp>
      <p:sp>
        <p:nvSpPr>
          <p:cNvPr id="127" name="Google Shape;127;p21"/>
          <p:cNvSpPr txBox="1"/>
          <p:nvPr>
            <p:ph idx="1" type="subTitle"/>
          </p:nvPr>
        </p:nvSpPr>
        <p:spPr>
          <a:xfrm>
            <a:off x="2413725" y="926000"/>
            <a:ext cx="3255600" cy="365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b="1" lang="en" sz="1200">
                <a:solidFill>
                  <a:schemeClr val="dk1"/>
                </a:solidFill>
              </a:rPr>
              <a:t>On screen text: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" sz="1200">
                <a:solidFill>
                  <a:schemeClr val="dk1"/>
                </a:solidFill>
              </a:rPr>
            </a:br>
            <a:br>
              <a:rPr lang="en" sz="1200">
                <a:solidFill>
                  <a:schemeClr val="dk1"/>
                </a:solidFill>
              </a:rPr>
            </a:br>
            <a:r>
              <a:rPr lang="en" sz="1200">
                <a:solidFill>
                  <a:schemeClr val="dk1"/>
                </a:solidFill>
              </a:rPr>
              <a:t>What is the traditional clothing worn by women in Assam, which is known for its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silk weaving tradition?</a:t>
            </a:r>
            <a:br>
              <a:rPr lang="en" sz="1200">
                <a:solidFill>
                  <a:schemeClr val="dk1"/>
                </a:solidFill>
              </a:rPr>
            </a:br>
            <a:br>
              <a:rPr lang="en" sz="1200">
                <a:solidFill>
                  <a:schemeClr val="dk1"/>
                </a:solidFill>
              </a:rPr>
            </a:br>
            <a:r>
              <a:rPr lang="en" sz="1200">
                <a:solidFill>
                  <a:schemeClr val="dk1"/>
                </a:solidFill>
              </a:rPr>
              <a:t>Muga Silk Sarees!</a:t>
            </a:r>
            <a:br>
              <a:rPr lang="en" sz="1200">
                <a:solidFill>
                  <a:schemeClr val="dk1"/>
                </a:solidFill>
              </a:rPr>
            </a:b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</a:rPr>
              <a:t>Dance Move: </a:t>
            </a:r>
            <a:r>
              <a:rPr lang="en" sz="1200">
                <a:solidFill>
                  <a:schemeClr val="dk1"/>
                </a:solidFill>
              </a:rPr>
              <a:t>Perform the "Bihu Step" - an energetic foot tap from Assam’s famous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dance.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Note: Play a 30 second Bihu dance youtube video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 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sz="1200"/>
          </a:p>
        </p:txBody>
      </p:sp>
      <p:sp>
        <p:nvSpPr>
          <p:cNvPr id="128" name="Google Shape;128;p21"/>
          <p:cNvSpPr txBox="1"/>
          <p:nvPr/>
        </p:nvSpPr>
        <p:spPr>
          <a:xfrm>
            <a:off x="44824" y="926012"/>
            <a:ext cx="2308500" cy="21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Recall Bar</a:t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Diversity in classroom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Creative expression (optional)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Diversity in India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Quiz on diversity 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29" name="Google Shape;129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4226" y="67100"/>
            <a:ext cx="87118" cy="5009276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21"/>
          <p:cNvSpPr txBox="1"/>
          <p:nvPr/>
        </p:nvSpPr>
        <p:spPr>
          <a:xfrm>
            <a:off x="5047475" y="5923000"/>
            <a:ext cx="3000000" cy="10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Note for teacher: Explain/remind students about the school profile in case they don’t remember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</p:txBody>
      </p:sp>
      <p:pic>
        <p:nvPicPr>
          <p:cNvPr id="131" name="Google Shape;131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05075" y="1420725"/>
            <a:ext cx="3376500" cy="18992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2"/>
          <p:cNvSpPr txBox="1"/>
          <p:nvPr>
            <p:ph type="ctrTitle"/>
          </p:nvPr>
        </p:nvSpPr>
        <p:spPr>
          <a:xfrm>
            <a:off x="2908000" y="67100"/>
            <a:ext cx="5658300" cy="106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Quiz question 4</a:t>
            </a:r>
            <a:endParaRPr sz="3000"/>
          </a:p>
        </p:txBody>
      </p:sp>
      <p:sp>
        <p:nvSpPr>
          <p:cNvPr id="137" name="Google Shape;137;p22"/>
          <p:cNvSpPr txBox="1"/>
          <p:nvPr>
            <p:ph idx="1" type="subTitle"/>
          </p:nvPr>
        </p:nvSpPr>
        <p:spPr>
          <a:xfrm>
            <a:off x="2413725" y="926000"/>
            <a:ext cx="3255600" cy="365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b="1" lang="en" sz="1200">
                <a:solidFill>
                  <a:schemeClr val="dk1"/>
                </a:solidFill>
              </a:rPr>
              <a:t>On screen text: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" sz="1200">
                <a:solidFill>
                  <a:schemeClr val="dk1"/>
                </a:solidFill>
              </a:rPr>
            </a:br>
            <a:br>
              <a:rPr lang="en" sz="1200">
                <a:solidFill>
                  <a:schemeClr val="dk1"/>
                </a:solidFill>
              </a:rPr>
            </a:br>
            <a:r>
              <a:rPr lang="en" sz="1200">
                <a:solidFill>
                  <a:schemeClr val="dk1"/>
                </a:solidFill>
              </a:rPr>
              <a:t>This South Indian state is famous for its crispy, golden-brown dosa, a popular dish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often enjoyed with chutney and sambar. Can you name the state?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" sz="1200">
                <a:solidFill>
                  <a:schemeClr val="dk1"/>
                </a:solidFill>
              </a:rPr>
            </a:br>
            <a:br>
              <a:rPr lang="en" sz="1200">
                <a:solidFill>
                  <a:schemeClr val="dk1"/>
                </a:solidFill>
              </a:rPr>
            </a:br>
            <a:r>
              <a:rPr lang="en" sz="1200">
                <a:solidFill>
                  <a:schemeClr val="dk1"/>
                </a:solidFill>
              </a:rPr>
              <a:t>Karnataka/Tamil Nadu!</a:t>
            </a:r>
            <a:br>
              <a:rPr lang="en" sz="1200">
                <a:solidFill>
                  <a:schemeClr val="dk1"/>
                </a:solidFill>
              </a:rPr>
            </a:b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</a:rPr>
              <a:t>Dance Move: </a:t>
            </a:r>
            <a:r>
              <a:rPr lang="en" sz="1200">
                <a:solidFill>
                  <a:schemeClr val="dk1"/>
                </a:solidFill>
              </a:rPr>
              <a:t>Perform a graceful “Bharatanatyam Mudra” to celebrate the food.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" sz="1200">
                <a:solidFill>
                  <a:schemeClr val="dk1"/>
                </a:solidFill>
              </a:rPr>
            </a:br>
            <a:r>
              <a:rPr lang="en" sz="1200">
                <a:solidFill>
                  <a:schemeClr val="dk1"/>
                </a:solidFill>
              </a:rPr>
              <a:t>Note: Play a 30 second Bharatnatyam dance youtube video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 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sz="1200"/>
          </a:p>
        </p:txBody>
      </p:sp>
      <p:sp>
        <p:nvSpPr>
          <p:cNvPr id="138" name="Google Shape;138;p22"/>
          <p:cNvSpPr txBox="1"/>
          <p:nvPr/>
        </p:nvSpPr>
        <p:spPr>
          <a:xfrm>
            <a:off x="44824" y="926012"/>
            <a:ext cx="2308500" cy="21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Recall Bar</a:t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Diversity in classroom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Creative expression (optional)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Diversity in India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Quiz on diversity 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39" name="Google Shape;13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4226" y="67100"/>
            <a:ext cx="87118" cy="5009276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22"/>
          <p:cNvSpPr txBox="1"/>
          <p:nvPr/>
        </p:nvSpPr>
        <p:spPr>
          <a:xfrm>
            <a:off x="5047475" y="5923000"/>
            <a:ext cx="3000000" cy="10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Note for teacher: Explain/remind students about the school profile in case they don’t remember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</p:txBody>
      </p:sp>
      <p:pic>
        <p:nvPicPr>
          <p:cNvPr id="141" name="Google Shape;141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11700" y="1515125"/>
            <a:ext cx="3169877" cy="21132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3"/>
          <p:cNvSpPr txBox="1"/>
          <p:nvPr>
            <p:ph type="ctrTitle"/>
          </p:nvPr>
        </p:nvSpPr>
        <p:spPr>
          <a:xfrm>
            <a:off x="2908000" y="67100"/>
            <a:ext cx="5658300" cy="106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Quiz question 5</a:t>
            </a:r>
            <a:endParaRPr sz="3000"/>
          </a:p>
        </p:txBody>
      </p:sp>
      <p:sp>
        <p:nvSpPr>
          <p:cNvPr id="147" name="Google Shape;147;p23"/>
          <p:cNvSpPr txBox="1"/>
          <p:nvPr>
            <p:ph idx="1" type="subTitle"/>
          </p:nvPr>
        </p:nvSpPr>
        <p:spPr>
          <a:xfrm>
            <a:off x="2413725" y="926000"/>
            <a:ext cx="3255600" cy="365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b="1" lang="en" sz="1200">
                <a:solidFill>
                  <a:schemeClr val="dk1"/>
                </a:solidFill>
              </a:rPr>
              <a:t>On screen text: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" sz="1200">
                <a:solidFill>
                  <a:schemeClr val="dk1"/>
                </a:solidFill>
              </a:rPr>
            </a:br>
            <a:br>
              <a:rPr lang="en" sz="1200">
                <a:solidFill>
                  <a:schemeClr val="dk1"/>
                </a:solidFill>
              </a:rPr>
            </a:br>
            <a:r>
              <a:rPr lang="en" sz="1200">
                <a:solidFill>
                  <a:schemeClr val="dk1"/>
                </a:solidFill>
              </a:rPr>
              <a:t>Which state is famous for its tea plantations, rich cultural traditions, and the festival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Bihu?</a:t>
            </a:r>
            <a:br>
              <a:rPr lang="en" sz="1200">
                <a:solidFill>
                  <a:schemeClr val="dk1"/>
                </a:solidFill>
              </a:rPr>
            </a:br>
            <a:br>
              <a:rPr lang="en" sz="1200">
                <a:solidFill>
                  <a:schemeClr val="dk1"/>
                </a:solidFill>
              </a:rPr>
            </a:br>
            <a:r>
              <a:rPr lang="en" sz="1200">
                <a:solidFill>
                  <a:schemeClr val="dk1"/>
                </a:solidFill>
              </a:rPr>
              <a:t>Assam!</a:t>
            </a:r>
            <a:br>
              <a:rPr lang="en" sz="1200">
                <a:solidFill>
                  <a:schemeClr val="dk1"/>
                </a:solidFill>
              </a:rPr>
            </a:b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</a:rPr>
              <a:t>Dance Move: </a:t>
            </a:r>
            <a:r>
              <a:rPr lang="en" sz="1200">
                <a:solidFill>
                  <a:schemeClr val="dk1"/>
                </a:solidFill>
              </a:rPr>
              <a:t>Tap your feet in the "Bihu Step" to the rhythm of the festival!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 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sz="1200"/>
          </a:p>
        </p:txBody>
      </p:sp>
      <p:sp>
        <p:nvSpPr>
          <p:cNvPr id="148" name="Google Shape;148;p23"/>
          <p:cNvSpPr txBox="1"/>
          <p:nvPr/>
        </p:nvSpPr>
        <p:spPr>
          <a:xfrm>
            <a:off x="44824" y="926012"/>
            <a:ext cx="2308500" cy="21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Recall Bar</a:t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Diversity in classroom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Creative expression (optional)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Diversity in India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Quiz on diversity 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49" name="Google Shape;149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4226" y="67100"/>
            <a:ext cx="87118" cy="5009276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23"/>
          <p:cNvSpPr txBox="1"/>
          <p:nvPr/>
        </p:nvSpPr>
        <p:spPr>
          <a:xfrm>
            <a:off x="5047475" y="5923000"/>
            <a:ext cx="3000000" cy="10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Note for teacher: Explain/remind students about the school profile in case they don’t remember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</p:txBody>
      </p:sp>
      <p:pic>
        <p:nvPicPr>
          <p:cNvPr id="151" name="Google Shape;151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05075" y="1420725"/>
            <a:ext cx="3376500" cy="18992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4"/>
          <p:cNvSpPr txBox="1"/>
          <p:nvPr>
            <p:ph idx="1" type="subTitle"/>
          </p:nvPr>
        </p:nvSpPr>
        <p:spPr>
          <a:xfrm>
            <a:off x="2413725" y="926000"/>
            <a:ext cx="4767000" cy="365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b="1" lang="en" sz="1200">
                <a:solidFill>
                  <a:schemeClr val="dk1"/>
                </a:solidFill>
              </a:rPr>
              <a:t>MC to appear and say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" sz="1200">
                <a:solidFill>
                  <a:schemeClr val="dk1"/>
                </a:solidFill>
              </a:rPr>
            </a:br>
            <a:br>
              <a:rPr lang="en" sz="1200">
                <a:solidFill>
                  <a:schemeClr val="dk1"/>
                </a:solidFill>
              </a:rPr>
            </a:br>
            <a:r>
              <a:rPr lang="en" sz="1200">
                <a:solidFill>
                  <a:schemeClr val="dk1"/>
                </a:solidFill>
              </a:rPr>
              <a:t>Hello everyone! Sorry for the interruption! Are you all enjoying the quiz? I just wanted to say hi! </a:t>
            </a:r>
            <a:br>
              <a:rPr lang="en" sz="1200">
                <a:solidFill>
                  <a:schemeClr val="dk1"/>
                </a:solidFill>
              </a:rPr>
            </a:br>
            <a:br>
              <a:rPr lang="en" sz="1200">
                <a:solidFill>
                  <a:schemeClr val="dk1"/>
                </a:solidFill>
              </a:rPr>
            </a:br>
            <a:r>
              <a:rPr lang="en" sz="1200">
                <a:solidFill>
                  <a:schemeClr val="dk1"/>
                </a:solidFill>
              </a:rPr>
              <a:t>Isn’t it amazing how diverse our country is? What do you enjoy the most about our country’s diversity - the food, clothing, dance, cultures or the beautiful landscapes? Just something to think about! </a:t>
            </a:r>
            <a:br>
              <a:rPr lang="en" sz="1200">
                <a:solidFill>
                  <a:schemeClr val="dk1"/>
                </a:solidFill>
              </a:rPr>
            </a:br>
            <a:br>
              <a:rPr lang="en" sz="1200">
                <a:solidFill>
                  <a:schemeClr val="dk1"/>
                </a:solidFill>
              </a:rPr>
            </a:br>
            <a:r>
              <a:rPr lang="en" sz="1200">
                <a:solidFill>
                  <a:schemeClr val="dk1"/>
                </a:solidFill>
              </a:rPr>
              <a:t>Alright carry on </a:t>
            </a:r>
            <a:r>
              <a:rPr lang="en" sz="1200">
                <a:solidFill>
                  <a:schemeClr val="dk1"/>
                </a:solidFill>
              </a:rPr>
              <a:t>with</a:t>
            </a:r>
            <a:r>
              <a:rPr lang="en" sz="1200">
                <a:solidFill>
                  <a:schemeClr val="dk1"/>
                </a:solidFill>
              </a:rPr>
              <a:t> the quiz now! See you soon!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 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sz="1200"/>
          </a:p>
        </p:txBody>
      </p:sp>
      <p:sp>
        <p:nvSpPr>
          <p:cNvPr id="157" name="Google Shape;157;p24"/>
          <p:cNvSpPr txBox="1"/>
          <p:nvPr/>
        </p:nvSpPr>
        <p:spPr>
          <a:xfrm>
            <a:off x="44824" y="926012"/>
            <a:ext cx="2308500" cy="21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Recall Bar</a:t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Diversity in classroom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Creative expression (optional)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Diversity in India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Quiz on diversity 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58" name="Google Shape;158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4226" y="67100"/>
            <a:ext cx="87118" cy="5009276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24"/>
          <p:cNvSpPr txBox="1"/>
          <p:nvPr/>
        </p:nvSpPr>
        <p:spPr>
          <a:xfrm>
            <a:off x="5047475" y="5923000"/>
            <a:ext cx="3000000" cy="10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Note for teacher: Explain/remind students about the school profile in case they don’t remember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5"/>
          <p:cNvSpPr txBox="1"/>
          <p:nvPr>
            <p:ph type="ctrTitle"/>
          </p:nvPr>
        </p:nvSpPr>
        <p:spPr>
          <a:xfrm>
            <a:off x="2908000" y="67100"/>
            <a:ext cx="5658300" cy="106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Quiz question 6</a:t>
            </a:r>
            <a:endParaRPr sz="3000"/>
          </a:p>
        </p:txBody>
      </p:sp>
      <p:sp>
        <p:nvSpPr>
          <p:cNvPr id="165" name="Google Shape;165;p25"/>
          <p:cNvSpPr txBox="1"/>
          <p:nvPr>
            <p:ph idx="1" type="subTitle"/>
          </p:nvPr>
        </p:nvSpPr>
        <p:spPr>
          <a:xfrm>
            <a:off x="2413725" y="926000"/>
            <a:ext cx="3255600" cy="365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b="1" lang="en" sz="1200">
                <a:solidFill>
                  <a:schemeClr val="dk1"/>
                </a:solidFill>
              </a:rPr>
              <a:t>On screen text: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" sz="1200">
                <a:solidFill>
                  <a:schemeClr val="dk1"/>
                </a:solidFill>
              </a:rPr>
            </a:br>
            <a:br>
              <a:rPr lang="en" sz="1200">
                <a:solidFill>
                  <a:schemeClr val="dk1"/>
                </a:solidFill>
              </a:rPr>
            </a:br>
            <a:r>
              <a:rPr lang="en" sz="1200">
                <a:solidFill>
                  <a:schemeClr val="dk1"/>
                </a:solidFill>
              </a:rPr>
              <a:t>Which landmark in Kashmir is famous for its scenic beauty and boat rides?</a:t>
            </a:r>
            <a:br>
              <a:rPr lang="en" sz="1200">
                <a:solidFill>
                  <a:schemeClr val="dk1"/>
                </a:solidFill>
              </a:rPr>
            </a:br>
            <a:br>
              <a:rPr lang="en" sz="1200">
                <a:solidFill>
                  <a:schemeClr val="dk1"/>
                </a:solidFill>
              </a:rPr>
            </a:br>
            <a:r>
              <a:rPr lang="en" sz="1200">
                <a:solidFill>
                  <a:schemeClr val="dk1"/>
                </a:solidFill>
              </a:rPr>
              <a:t>Dal Lake!</a:t>
            </a:r>
            <a:br>
              <a:rPr lang="en" sz="1200">
                <a:solidFill>
                  <a:schemeClr val="dk1"/>
                </a:solidFill>
              </a:rPr>
            </a:b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</a:rPr>
              <a:t>Dance Move: </a:t>
            </a:r>
            <a:r>
              <a:rPr lang="en" sz="1200">
                <a:solidFill>
                  <a:schemeClr val="dk1"/>
                </a:solidFill>
              </a:rPr>
              <a:t>Perform a graceful hand gesture to imitate the serene movements of a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boat on the lake.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 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sz="1200"/>
          </a:p>
        </p:txBody>
      </p:sp>
      <p:sp>
        <p:nvSpPr>
          <p:cNvPr id="166" name="Google Shape;166;p25"/>
          <p:cNvSpPr txBox="1"/>
          <p:nvPr/>
        </p:nvSpPr>
        <p:spPr>
          <a:xfrm>
            <a:off x="44824" y="926012"/>
            <a:ext cx="2308500" cy="21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Recall Bar</a:t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Diversity in classroom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Creative expression (optional)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Diversity in India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Quiz on diversity 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67" name="Google Shape;167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4226" y="67100"/>
            <a:ext cx="87118" cy="5009276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25"/>
          <p:cNvSpPr txBox="1"/>
          <p:nvPr/>
        </p:nvSpPr>
        <p:spPr>
          <a:xfrm>
            <a:off x="5047475" y="5923000"/>
            <a:ext cx="3000000" cy="10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Note for teacher: Explain/remind students about the school profile in case they don’t remember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</p:txBody>
      </p:sp>
      <p:pic>
        <p:nvPicPr>
          <p:cNvPr id="169" name="Google Shape;169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21725" y="1282400"/>
            <a:ext cx="3169877" cy="21132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6"/>
          <p:cNvSpPr txBox="1"/>
          <p:nvPr>
            <p:ph type="ctrTitle"/>
          </p:nvPr>
        </p:nvSpPr>
        <p:spPr>
          <a:xfrm>
            <a:off x="2908000" y="67100"/>
            <a:ext cx="5658300" cy="106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Quiz question 7</a:t>
            </a:r>
            <a:endParaRPr sz="3000"/>
          </a:p>
        </p:txBody>
      </p:sp>
      <p:sp>
        <p:nvSpPr>
          <p:cNvPr id="175" name="Google Shape;175;p26"/>
          <p:cNvSpPr txBox="1"/>
          <p:nvPr>
            <p:ph idx="1" type="subTitle"/>
          </p:nvPr>
        </p:nvSpPr>
        <p:spPr>
          <a:xfrm>
            <a:off x="2413725" y="926000"/>
            <a:ext cx="3255600" cy="365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b="1" lang="en" sz="1200">
                <a:solidFill>
                  <a:schemeClr val="dk1"/>
                </a:solidFill>
              </a:rPr>
              <a:t>On screen text: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" sz="1200">
                <a:solidFill>
                  <a:schemeClr val="dk1"/>
                </a:solidFill>
              </a:rPr>
            </a:br>
            <a:br>
              <a:rPr lang="en" sz="1200">
                <a:solidFill>
                  <a:schemeClr val="dk1"/>
                </a:solidFill>
              </a:rPr>
            </a:br>
            <a:r>
              <a:rPr lang="en" sz="1200">
                <a:solidFill>
                  <a:schemeClr val="dk1"/>
                </a:solidFill>
              </a:rPr>
              <a:t>The famous Gateway of India, a historical monument, is located in which state that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also celebrates festivals like Ganesh Chaturthi and Makar Sankranti?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" sz="1200">
                <a:solidFill>
                  <a:schemeClr val="dk1"/>
                </a:solidFill>
              </a:rPr>
            </a:br>
            <a:br>
              <a:rPr lang="en" sz="1200">
                <a:solidFill>
                  <a:schemeClr val="dk1"/>
                </a:solidFill>
              </a:rPr>
            </a:br>
            <a:r>
              <a:rPr lang="en" sz="1200">
                <a:solidFill>
                  <a:schemeClr val="dk1"/>
                </a:solidFill>
              </a:rPr>
              <a:t>Maharashtra!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" sz="1200">
                <a:solidFill>
                  <a:schemeClr val="dk1"/>
                </a:solidFill>
              </a:rPr>
            </a:b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</a:rPr>
              <a:t>Dance Move: </a:t>
            </a:r>
            <a:r>
              <a:rPr lang="en" sz="1200">
                <a:solidFill>
                  <a:schemeClr val="dk1"/>
                </a:solidFill>
              </a:rPr>
              <a:t>Perform a “Lavani Step,” full of energy and rhythm from Maharashtra’s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famous dance.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" sz="1200">
                <a:solidFill>
                  <a:schemeClr val="dk1"/>
                </a:solidFill>
              </a:rPr>
            </a:br>
            <a:r>
              <a:rPr lang="en" sz="1200">
                <a:solidFill>
                  <a:schemeClr val="dk1"/>
                </a:solidFill>
              </a:rPr>
              <a:t>Note: Play a Lalvani youtube video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 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sz="1200"/>
          </a:p>
        </p:txBody>
      </p:sp>
      <p:sp>
        <p:nvSpPr>
          <p:cNvPr id="176" name="Google Shape;176;p26"/>
          <p:cNvSpPr txBox="1"/>
          <p:nvPr/>
        </p:nvSpPr>
        <p:spPr>
          <a:xfrm>
            <a:off x="44824" y="926012"/>
            <a:ext cx="2308500" cy="21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Recall Bar</a:t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Diversity in classroom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Creative expression (optional)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Diversity in India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Quiz on diversity 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77" name="Google Shape;177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4226" y="67100"/>
            <a:ext cx="87118" cy="5009276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6"/>
          <p:cNvSpPr txBox="1"/>
          <p:nvPr/>
        </p:nvSpPr>
        <p:spPr>
          <a:xfrm>
            <a:off x="5047475" y="5923000"/>
            <a:ext cx="3000000" cy="10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Note for teacher: Explain/remind students about the school profile in case they don’t remember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</p:txBody>
      </p:sp>
      <p:pic>
        <p:nvPicPr>
          <p:cNvPr id="179" name="Google Shape;179;p26" title="4901588236_f75e04350b_w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21725" y="1282400"/>
            <a:ext cx="3169875" cy="21158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7"/>
          <p:cNvSpPr txBox="1"/>
          <p:nvPr>
            <p:ph type="ctrTitle"/>
          </p:nvPr>
        </p:nvSpPr>
        <p:spPr>
          <a:xfrm>
            <a:off x="2908000" y="67100"/>
            <a:ext cx="5658300" cy="106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Quiz question 8</a:t>
            </a:r>
            <a:endParaRPr sz="3000"/>
          </a:p>
        </p:txBody>
      </p:sp>
      <p:sp>
        <p:nvSpPr>
          <p:cNvPr id="185" name="Google Shape;185;p27"/>
          <p:cNvSpPr txBox="1"/>
          <p:nvPr>
            <p:ph idx="1" type="subTitle"/>
          </p:nvPr>
        </p:nvSpPr>
        <p:spPr>
          <a:xfrm>
            <a:off x="2413725" y="926000"/>
            <a:ext cx="3255600" cy="365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b="1" lang="en" sz="1200">
                <a:solidFill>
                  <a:schemeClr val="dk1"/>
                </a:solidFill>
              </a:rPr>
              <a:t>On screen text: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" sz="1200">
                <a:solidFill>
                  <a:schemeClr val="dk1"/>
                </a:solidFill>
              </a:rPr>
            </a:br>
            <a:r>
              <a:rPr lang="en" sz="1200">
                <a:solidFill>
                  <a:schemeClr val="dk1"/>
                </a:solidFill>
              </a:rPr>
              <a:t>This dish, made of maize and mustard greens, is a traditional food enjoyed in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Punjab, especially in the winter. What is it called?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" sz="1200">
                <a:solidFill>
                  <a:schemeClr val="dk1"/>
                </a:solidFill>
              </a:rPr>
            </a:br>
            <a:br>
              <a:rPr lang="en" sz="1200">
                <a:solidFill>
                  <a:schemeClr val="dk1"/>
                </a:solidFill>
              </a:rPr>
            </a:br>
            <a:r>
              <a:rPr lang="en" sz="1200">
                <a:solidFill>
                  <a:schemeClr val="dk1"/>
                </a:solidFill>
              </a:rPr>
              <a:t>Sarson da Saag and Makki di Roti!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" sz="1200">
                <a:solidFill>
                  <a:schemeClr val="dk1"/>
                </a:solidFill>
              </a:rPr>
            </a:b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</a:rPr>
              <a:t>Dance Move: </a:t>
            </a:r>
            <a:r>
              <a:rPr lang="en" sz="1200">
                <a:solidFill>
                  <a:schemeClr val="dk1"/>
                </a:solidFill>
              </a:rPr>
              <a:t>Do the “Bhangra Jump” to celebrate Punjab’s harvest traditions!</a:t>
            </a:r>
            <a:br>
              <a:rPr lang="en" sz="1200">
                <a:solidFill>
                  <a:schemeClr val="dk1"/>
                </a:solidFill>
              </a:rPr>
            </a:br>
            <a:br>
              <a:rPr lang="en" sz="1200">
                <a:solidFill>
                  <a:schemeClr val="dk1"/>
                </a:solidFill>
              </a:rPr>
            </a:br>
            <a:r>
              <a:rPr lang="en" sz="1200">
                <a:solidFill>
                  <a:schemeClr val="dk1"/>
                </a:solidFill>
              </a:rPr>
              <a:t>Note: Play a 30 second bhangra youtube video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 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sz="1200"/>
          </a:p>
        </p:txBody>
      </p:sp>
      <p:sp>
        <p:nvSpPr>
          <p:cNvPr id="186" name="Google Shape;186;p27"/>
          <p:cNvSpPr txBox="1"/>
          <p:nvPr/>
        </p:nvSpPr>
        <p:spPr>
          <a:xfrm>
            <a:off x="44824" y="926012"/>
            <a:ext cx="2308500" cy="21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Recall Bar</a:t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Diversity in classroom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Creative expression (optional)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Diversity in India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Quiz on diversity 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87" name="Google Shape;187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4226" y="67100"/>
            <a:ext cx="87118" cy="5009276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27"/>
          <p:cNvSpPr txBox="1"/>
          <p:nvPr/>
        </p:nvSpPr>
        <p:spPr>
          <a:xfrm>
            <a:off x="5047475" y="5923000"/>
            <a:ext cx="3000000" cy="10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Note for teacher: Explain/remind students about the school profile in case they don’t remember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</p:txBody>
      </p:sp>
      <p:pic>
        <p:nvPicPr>
          <p:cNvPr id="189" name="Google Shape;189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21725" y="1282400"/>
            <a:ext cx="3169875" cy="18623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8"/>
          <p:cNvSpPr txBox="1"/>
          <p:nvPr>
            <p:ph type="ctrTitle"/>
          </p:nvPr>
        </p:nvSpPr>
        <p:spPr>
          <a:xfrm>
            <a:off x="2908000" y="67100"/>
            <a:ext cx="5658300" cy="106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Quiz question 9</a:t>
            </a:r>
            <a:endParaRPr sz="3000"/>
          </a:p>
        </p:txBody>
      </p:sp>
      <p:sp>
        <p:nvSpPr>
          <p:cNvPr id="195" name="Google Shape;195;p28"/>
          <p:cNvSpPr txBox="1"/>
          <p:nvPr>
            <p:ph idx="1" type="subTitle"/>
          </p:nvPr>
        </p:nvSpPr>
        <p:spPr>
          <a:xfrm>
            <a:off x="2413725" y="926000"/>
            <a:ext cx="3255600" cy="365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b="1" lang="en" sz="1200">
                <a:solidFill>
                  <a:schemeClr val="dk1"/>
                </a:solidFill>
              </a:rPr>
              <a:t>On screen text: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" sz="1200">
                <a:solidFill>
                  <a:schemeClr val="dk1"/>
                </a:solidFill>
              </a:rPr>
            </a:br>
            <a:r>
              <a:rPr lang="en" sz="1200">
                <a:solidFill>
                  <a:schemeClr val="dk1"/>
                </a:solidFill>
              </a:rPr>
              <a:t>Which state is known for its ancient temples, including the Jagannath Temple, and celebrates the Rath Yatra festival with grand processions?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" sz="1200">
                <a:solidFill>
                  <a:schemeClr val="dk1"/>
                </a:solidFill>
              </a:rPr>
            </a:br>
            <a:br>
              <a:rPr lang="en" sz="1200">
                <a:solidFill>
                  <a:schemeClr val="dk1"/>
                </a:solidFill>
              </a:rPr>
            </a:br>
            <a:r>
              <a:rPr lang="en" sz="1200">
                <a:solidFill>
                  <a:schemeClr val="dk1"/>
                </a:solidFill>
              </a:rPr>
              <a:t>Odisha!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</a:rPr>
              <a:t>Dance Move: </a:t>
            </a:r>
            <a:r>
              <a:rPr lang="en" sz="1200">
                <a:solidFill>
                  <a:schemeClr val="dk1"/>
                </a:solidFill>
              </a:rPr>
              <a:t>Strike an elegant “Odissi Pose” to honor the classical dance from Odisha.</a:t>
            </a:r>
            <a:br>
              <a:rPr lang="en" sz="1200">
                <a:solidFill>
                  <a:schemeClr val="dk1"/>
                </a:solidFill>
              </a:rPr>
            </a:br>
            <a:br>
              <a:rPr lang="en" sz="1200">
                <a:solidFill>
                  <a:schemeClr val="dk1"/>
                </a:solidFill>
              </a:rPr>
            </a:br>
            <a:r>
              <a:rPr lang="en" sz="1200">
                <a:solidFill>
                  <a:schemeClr val="dk1"/>
                </a:solidFill>
              </a:rPr>
              <a:t>Note: Play a 30 second Odissi video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 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sz="1200"/>
          </a:p>
        </p:txBody>
      </p:sp>
      <p:sp>
        <p:nvSpPr>
          <p:cNvPr id="196" name="Google Shape;196;p28"/>
          <p:cNvSpPr txBox="1"/>
          <p:nvPr/>
        </p:nvSpPr>
        <p:spPr>
          <a:xfrm>
            <a:off x="44824" y="926012"/>
            <a:ext cx="2308500" cy="21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Recall Bar</a:t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Diversity in classroom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Creative expression (optional)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Diversity in India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Quiz on diversity 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97" name="Google Shape;197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4226" y="67100"/>
            <a:ext cx="87118" cy="5009276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28"/>
          <p:cNvSpPr txBox="1"/>
          <p:nvPr/>
        </p:nvSpPr>
        <p:spPr>
          <a:xfrm>
            <a:off x="5047475" y="5923000"/>
            <a:ext cx="3000000" cy="10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Note for teacher: Explain/remind students about the school profile in case they don’t remember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</p:txBody>
      </p:sp>
      <p:pic>
        <p:nvPicPr>
          <p:cNvPr id="199" name="Google Shape;199;p28"/>
          <p:cNvPicPr preferRelativeResize="0"/>
          <p:nvPr/>
        </p:nvPicPr>
        <p:blipFill rotWithShape="1">
          <a:blip r:embed="rId4">
            <a:alphaModFix/>
          </a:blip>
          <a:srcRect b="0" l="0" r="0" t="24265"/>
          <a:stretch/>
        </p:blipFill>
        <p:spPr>
          <a:xfrm>
            <a:off x="6093825" y="1167312"/>
            <a:ext cx="2472475" cy="2808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9"/>
          <p:cNvSpPr txBox="1"/>
          <p:nvPr>
            <p:ph type="ctrTitle"/>
          </p:nvPr>
        </p:nvSpPr>
        <p:spPr>
          <a:xfrm>
            <a:off x="2908000" y="67100"/>
            <a:ext cx="5658300" cy="106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Quiz question 10</a:t>
            </a:r>
            <a:endParaRPr sz="3000"/>
          </a:p>
        </p:txBody>
      </p:sp>
      <p:sp>
        <p:nvSpPr>
          <p:cNvPr id="205" name="Google Shape;205;p29"/>
          <p:cNvSpPr txBox="1"/>
          <p:nvPr>
            <p:ph idx="1" type="subTitle"/>
          </p:nvPr>
        </p:nvSpPr>
        <p:spPr>
          <a:xfrm>
            <a:off x="2413725" y="926000"/>
            <a:ext cx="4103400" cy="365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b="1" lang="en" sz="1200">
                <a:solidFill>
                  <a:schemeClr val="dk1"/>
                </a:solidFill>
              </a:rPr>
              <a:t>On screen text: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" sz="1200">
                <a:solidFill>
                  <a:schemeClr val="dk1"/>
                </a:solidFill>
              </a:rPr>
            </a:br>
            <a:r>
              <a:rPr lang="en" sz="1200">
                <a:solidFill>
                  <a:schemeClr val="dk1"/>
                </a:solidFill>
              </a:rPr>
              <a:t>This state is famous for its Mysore Palace, rich history, and the festival of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Dussehra. What is this state?</a:t>
            </a:r>
            <a:br>
              <a:rPr lang="en" sz="1200">
                <a:solidFill>
                  <a:schemeClr val="dk1"/>
                </a:solidFill>
              </a:rPr>
            </a:br>
            <a:br>
              <a:rPr lang="en" sz="1200">
                <a:solidFill>
                  <a:schemeClr val="dk1"/>
                </a:solidFill>
              </a:rPr>
            </a:br>
            <a:r>
              <a:rPr lang="en" sz="1200">
                <a:solidFill>
                  <a:schemeClr val="dk1"/>
                </a:solidFill>
              </a:rPr>
              <a:t>Karnataka!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</a:rPr>
              <a:t>Dance Move: </a:t>
            </a:r>
            <a:r>
              <a:rPr lang="en" sz="1200">
                <a:solidFill>
                  <a:schemeClr val="dk1"/>
                </a:solidFill>
              </a:rPr>
              <a:t>Perform the "Yakshagana Step," a bold, dramatic movement from Karnataka’s traditional dance.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 Note: Play a 30 second Yakshagana youtube video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sz="1200"/>
          </a:p>
        </p:txBody>
      </p:sp>
      <p:sp>
        <p:nvSpPr>
          <p:cNvPr id="206" name="Google Shape;206;p29"/>
          <p:cNvSpPr txBox="1"/>
          <p:nvPr/>
        </p:nvSpPr>
        <p:spPr>
          <a:xfrm>
            <a:off x="44824" y="926012"/>
            <a:ext cx="2308500" cy="21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Recall Bar</a:t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Diversity in classroom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Creative expression (optional)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Diversity in India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Quiz on diversity 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207" name="Google Shape;207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4226" y="67100"/>
            <a:ext cx="87118" cy="5009276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29"/>
          <p:cNvSpPr txBox="1"/>
          <p:nvPr/>
        </p:nvSpPr>
        <p:spPr>
          <a:xfrm>
            <a:off x="5047475" y="5923000"/>
            <a:ext cx="3000000" cy="10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Note for teacher: Explain/remind students about the school profile in case they don’t remember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</p:txBody>
      </p:sp>
      <p:pic>
        <p:nvPicPr>
          <p:cNvPr id="209" name="Google Shape;209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17125" y="1282400"/>
            <a:ext cx="2474474" cy="19719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0"/>
          <p:cNvSpPr txBox="1"/>
          <p:nvPr>
            <p:ph type="ctrTitle"/>
          </p:nvPr>
        </p:nvSpPr>
        <p:spPr>
          <a:xfrm>
            <a:off x="2908000" y="67100"/>
            <a:ext cx="5658300" cy="106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Discuss the quiz</a:t>
            </a:r>
            <a:endParaRPr sz="3000"/>
          </a:p>
        </p:txBody>
      </p:sp>
      <p:sp>
        <p:nvSpPr>
          <p:cNvPr id="215" name="Google Shape;215;p30"/>
          <p:cNvSpPr txBox="1"/>
          <p:nvPr>
            <p:ph idx="1" type="subTitle"/>
          </p:nvPr>
        </p:nvSpPr>
        <p:spPr>
          <a:xfrm>
            <a:off x="2438875" y="1180350"/>
            <a:ext cx="6032100" cy="139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What was the most fun part of today’s quiz and dance?</a:t>
            </a:r>
            <a:br>
              <a:rPr lang="en" sz="1200">
                <a:solidFill>
                  <a:schemeClr val="dk1"/>
                </a:solidFill>
              </a:rPr>
            </a:b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What did you learn about the states today that you didn’t know before?</a:t>
            </a:r>
            <a:br>
              <a:rPr lang="en" sz="1200">
                <a:solidFill>
                  <a:schemeClr val="dk1"/>
                </a:solidFill>
              </a:rPr>
            </a:b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Did any of the dance steps remind you of your own culture or family traditions?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 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sz="1200"/>
          </a:p>
        </p:txBody>
      </p:sp>
      <p:sp>
        <p:nvSpPr>
          <p:cNvPr id="216" name="Google Shape;216;p30"/>
          <p:cNvSpPr txBox="1"/>
          <p:nvPr/>
        </p:nvSpPr>
        <p:spPr>
          <a:xfrm>
            <a:off x="44824" y="926012"/>
            <a:ext cx="2308500" cy="21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Recall Bar</a:t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Diversity in classroom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Creative expression (optional)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Diversity in India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Quiz on diversity 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217" name="Google Shape;217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4226" y="67100"/>
            <a:ext cx="87118" cy="5009276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30"/>
          <p:cNvSpPr txBox="1"/>
          <p:nvPr/>
        </p:nvSpPr>
        <p:spPr>
          <a:xfrm>
            <a:off x="5047475" y="5923000"/>
            <a:ext cx="3000000" cy="10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Note for teacher: Explain/remind students about the school profile in case they don’t remember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1"/>
          <p:cNvSpPr txBox="1"/>
          <p:nvPr>
            <p:ph type="ctrTitle"/>
          </p:nvPr>
        </p:nvSpPr>
        <p:spPr>
          <a:xfrm>
            <a:off x="2908000" y="67100"/>
            <a:ext cx="5658300" cy="106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Social diversity</a:t>
            </a:r>
            <a:endParaRPr sz="3000"/>
          </a:p>
        </p:txBody>
      </p:sp>
      <p:sp>
        <p:nvSpPr>
          <p:cNvPr id="224" name="Google Shape;224;p31"/>
          <p:cNvSpPr txBox="1"/>
          <p:nvPr>
            <p:ph idx="1" type="subTitle"/>
          </p:nvPr>
        </p:nvSpPr>
        <p:spPr>
          <a:xfrm>
            <a:off x="2413725" y="926000"/>
            <a:ext cx="6032100" cy="365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</a:rPr>
              <a:t>MC to say: </a:t>
            </a:r>
            <a:br>
              <a:rPr b="1" lang="en" sz="1200">
                <a:solidFill>
                  <a:schemeClr val="dk1"/>
                </a:solidFill>
              </a:rPr>
            </a:br>
            <a:br>
              <a:rPr b="1" lang="en" sz="1200">
                <a:solidFill>
                  <a:schemeClr val="dk1"/>
                </a:solidFill>
              </a:rPr>
            </a:br>
            <a:r>
              <a:rPr lang="en" sz="1200">
                <a:solidFill>
                  <a:schemeClr val="dk1"/>
                </a:solidFill>
              </a:rPr>
              <a:t>You all did an amazing job dancing, guessing, and sharing what makes each state so special!</a:t>
            </a:r>
            <a:br>
              <a:rPr lang="en" sz="1200">
                <a:solidFill>
                  <a:schemeClr val="dk1"/>
                </a:solidFill>
              </a:rPr>
            </a:b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What we explored today is called social diversity. Social diversity refers to the variety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of cultures, languages, traditions, and lifestyles that exist in a society. Just as we saw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today, India is home to many different states, each with its own unique identity. These differences make our country vibrant and rich. Celebrating these differences makes us grow together!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 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sz="1200"/>
          </a:p>
        </p:txBody>
      </p:sp>
      <p:sp>
        <p:nvSpPr>
          <p:cNvPr id="225" name="Google Shape;225;p31"/>
          <p:cNvSpPr txBox="1"/>
          <p:nvPr/>
        </p:nvSpPr>
        <p:spPr>
          <a:xfrm>
            <a:off x="44824" y="926012"/>
            <a:ext cx="2308500" cy="21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Recall Bar</a:t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Diversity in classroom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Creative expression (optional)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Diversity in India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Quiz on diversity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Social diversity</a:t>
            </a:r>
            <a:endParaRPr b="1">
              <a:solidFill>
                <a:schemeClr val="dk1"/>
              </a:solidFill>
            </a:endParaRPr>
          </a:p>
        </p:txBody>
      </p:sp>
      <p:pic>
        <p:nvPicPr>
          <p:cNvPr id="226" name="Google Shape;226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4226" y="67100"/>
            <a:ext cx="87118" cy="5009276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31"/>
          <p:cNvSpPr txBox="1"/>
          <p:nvPr/>
        </p:nvSpPr>
        <p:spPr>
          <a:xfrm>
            <a:off x="5047475" y="5923000"/>
            <a:ext cx="3000000" cy="10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Note for teacher: Explain/remind students about the school profile in case they don’t remember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